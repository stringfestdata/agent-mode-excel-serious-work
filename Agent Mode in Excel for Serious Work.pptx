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426" r:id="rId3"/>
    <p:sldId id="4691" r:id="rId4"/>
    <p:sldId id="4692" r:id="rId5"/>
    <p:sldId id="435" r:id="rId6"/>
    <p:sldId id="4693" r:id="rId7"/>
    <p:sldId id="4694" r:id="rId8"/>
    <p:sldId id="4695" r:id="rId9"/>
    <p:sldId id="4696" r:id="rId10"/>
    <p:sldId id="4697" r:id="rId11"/>
    <p:sldId id="4698" r:id="rId12"/>
    <p:sldId id="4699" r:id="rId13"/>
    <p:sldId id="407" r:id="rId14"/>
    <p:sldId id="4700" r:id="rId15"/>
    <p:sldId id="4701" r:id="rId16"/>
    <p:sldId id="415" r:id="rId17"/>
    <p:sldId id="427" r:id="rId18"/>
  </p:sldIdLst>
  <p:sldSz cx="18288000" cy="10287000"/>
  <p:notesSz cx="6858000" cy="9144000"/>
  <p:embeddedFontLst>
    <p:embeddedFont>
      <p:font typeface="Consolas" panose="020B0609020204030204" pitchFamily="49"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B3175A-E732-443C-B9E3-868C12CA9A19}" v="40" dt="2025-12-23T18:08:28.2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78463" autoAdjust="0"/>
  </p:normalViewPr>
  <p:slideViewPr>
    <p:cSldViewPr>
      <p:cViewPr varScale="1">
        <p:scale>
          <a:sx n="38" d="100"/>
          <a:sy n="38" d="100"/>
        </p:scale>
        <p:origin x="485" y="35"/>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Mount" userId="22d0b802-afc6-4b8f-ba57-7a855d96927f" providerId="ADAL" clId="{F0CB5FCE-7CF8-4FA6-9065-772A4CECA37B}"/>
    <pc:docChg chg="custSel addSld delSld modSld">
      <pc:chgData name="George Mount" userId="22d0b802-afc6-4b8f-ba57-7a855d96927f" providerId="ADAL" clId="{F0CB5FCE-7CF8-4FA6-9065-772A4CECA37B}" dt="2025-12-23T18:08:37.892" v="441" actId="404"/>
      <pc:docMkLst>
        <pc:docMk/>
      </pc:docMkLst>
      <pc:sldChg chg="modSp mod">
        <pc:chgData name="George Mount" userId="22d0b802-afc6-4b8f-ba57-7a855d96927f" providerId="ADAL" clId="{F0CB5FCE-7CF8-4FA6-9065-772A4CECA37B}" dt="2025-12-23T17:46:47.815" v="41" actId="20577"/>
        <pc:sldMkLst>
          <pc:docMk/>
          <pc:sldMk cId="355659117" sldId="256"/>
        </pc:sldMkLst>
        <pc:spChg chg="mod">
          <ac:chgData name="George Mount" userId="22d0b802-afc6-4b8f-ba57-7a855d96927f" providerId="ADAL" clId="{F0CB5FCE-7CF8-4FA6-9065-772A4CECA37B}" dt="2025-12-23T17:46:47.815" v="41" actId="20577"/>
          <ac:spMkLst>
            <pc:docMk/>
            <pc:sldMk cId="355659117" sldId="256"/>
            <ac:spMk id="11" creationId="{00000000-0000-0000-0000-000000000000}"/>
          </ac:spMkLst>
        </pc:spChg>
      </pc:sldChg>
      <pc:sldChg chg="modSp mod">
        <pc:chgData name="George Mount" userId="22d0b802-afc6-4b8f-ba57-7a855d96927f" providerId="ADAL" clId="{F0CB5FCE-7CF8-4FA6-9065-772A4CECA37B}" dt="2025-12-23T18:07:16.553" v="357" actId="207"/>
        <pc:sldMkLst>
          <pc:docMk/>
          <pc:sldMk cId="3871531779" sldId="407"/>
        </pc:sldMkLst>
        <pc:spChg chg="mod">
          <ac:chgData name="George Mount" userId="22d0b802-afc6-4b8f-ba57-7a855d96927f" providerId="ADAL" clId="{F0CB5FCE-7CF8-4FA6-9065-772A4CECA37B}" dt="2025-12-23T18:07:16.553" v="357" actId="207"/>
          <ac:spMkLst>
            <pc:docMk/>
            <pc:sldMk cId="3871531779" sldId="407"/>
            <ac:spMk id="3" creationId="{00000000-0000-0000-0000-000000000000}"/>
          </ac:spMkLst>
        </pc:spChg>
      </pc:sldChg>
      <pc:sldChg chg="del">
        <pc:chgData name="George Mount" userId="22d0b802-afc6-4b8f-ba57-7a855d96927f" providerId="ADAL" clId="{F0CB5FCE-7CF8-4FA6-9065-772A4CECA37B}" dt="2025-12-23T17:46:57.461" v="42" actId="47"/>
        <pc:sldMkLst>
          <pc:docMk/>
          <pc:sldMk cId="1872901171" sldId="425"/>
        </pc:sldMkLst>
      </pc:sldChg>
      <pc:sldChg chg="modSp mod">
        <pc:chgData name="George Mount" userId="22d0b802-afc6-4b8f-ba57-7a855d96927f" providerId="ADAL" clId="{F0CB5FCE-7CF8-4FA6-9065-772A4CECA37B}" dt="2025-12-23T17:47:11.753" v="49" actId="20577"/>
        <pc:sldMkLst>
          <pc:docMk/>
          <pc:sldMk cId="787076388" sldId="426"/>
        </pc:sldMkLst>
        <pc:spChg chg="mod">
          <ac:chgData name="George Mount" userId="22d0b802-afc6-4b8f-ba57-7a855d96927f" providerId="ADAL" clId="{F0CB5FCE-7CF8-4FA6-9065-772A4CECA37B}" dt="2025-12-23T17:47:08.694" v="43"/>
          <ac:spMkLst>
            <pc:docMk/>
            <pc:sldMk cId="787076388" sldId="426"/>
            <ac:spMk id="3" creationId="{00000000-0000-0000-0000-000000000000}"/>
          </ac:spMkLst>
        </pc:spChg>
        <pc:spChg chg="mod">
          <ac:chgData name="George Mount" userId="22d0b802-afc6-4b8f-ba57-7a855d96927f" providerId="ADAL" clId="{F0CB5FCE-7CF8-4FA6-9065-772A4CECA37B}" dt="2025-12-23T17:47:11.753" v="49" actId="20577"/>
          <ac:spMkLst>
            <pc:docMk/>
            <pc:sldMk cId="787076388" sldId="426"/>
            <ac:spMk id="11" creationId="{00000000-0000-0000-0000-000000000000}"/>
          </ac:spMkLst>
        </pc:spChg>
      </pc:sldChg>
      <pc:sldChg chg="del">
        <pc:chgData name="George Mount" userId="22d0b802-afc6-4b8f-ba57-7a855d96927f" providerId="ADAL" clId="{F0CB5FCE-7CF8-4FA6-9065-772A4CECA37B}" dt="2025-12-23T18:07:33.728" v="358" actId="47"/>
        <pc:sldMkLst>
          <pc:docMk/>
          <pc:sldMk cId="1679221718" sldId="428"/>
        </pc:sldMkLst>
      </pc:sldChg>
      <pc:sldChg chg="del">
        <pc:chgData name="George Mount" userId="22d0b802-afc6-4b8f-ba57-7a855d96927f" providerId="ADAL" clId="{F0CB5FCE-7CF8-4FA6-9065-772A4CECA37B}" dt="2025-12-23T18:07:34.689" v="359" actId="47"/>
        <pc:sldMkLst>
          <pc:docMk/>
          <pc:sldMk cId="445953425" sldId="434"/>
        </pc:sldMkLst>
      </pc:sldChg>
      <pc:sldChg chg="addSp modSp add mod">
        <pc:chgData name="George Mount" userId="22d0b802-afc6-4b8f-ba57-7a855d96927f" providerId="ADAL" clId="{F0CB5FCE-7CF8-4FA6-9065-772A4CECA37B}" dt="2025-12-23T18:01:30.354" v="118" actId="1076"/>
        <pc:sldMkLst>
          <pc:docMk/>
          <pc:sldMk cId="1666574771" sldId="435"/>
        </pc:sldMkLst>
        <pc:spChg chg="mod">
          <ac:chgData name="George Mount" userId="22d0b802-afc6-4b8f-ba57-7a855d96927f" providerId="ADAL" clId="{F0CB5FCE-7CF8-4FA6-9065-772A4CECA37B}" dt="2025-12-23T17:57:22.219" v="109" actId="404"/>
          <ac:spMkLst>
            <pc:docMk/>
            <pc:sldMk cId="1666574771" sldId="435"/>
            <ac:spMk id="11" creationId="{97EB3963-7B31-1FA9-D509-4E12DFCB794D}"/>
          </ac:spMkLst>
        </pc:spChg>
        <pc:picChg chg="add mod">
          <ac:chgData name="George Mount" userId="22d0b802-afc6-4b8f-ba57-7a855d96927f" providerId="ADAL" clId="{F0CB5FCE-7CF8-4FA6-9065-772A4CECA37B}" dt="2025-12-23T17:57:28.142" v="112" actId="1076"/>
          <ac:picMkLst>
            <pc:docMk/>
            <pc:sldMk cId="1666574771" sldId="435"/>
            <ac:picMk id="2" creationId="{3A5ADEDE-F420-CC09-AAFF-3E0788B7CB36}"/>
          </ac:picMkLst>
        </pc:picChg>
        <pc:picChg chg="add mod">
          <ac:chgData name="George Mount" userId="22d0b802-afc6-4b8f-ba57-7a855d96927f" providerId="ADAL" clId="{F0CB5FCE-7CF8-4FA6-9065-772A4CECA37B}" dt="2025-12-23T18:01:30.354" v="118" actId="1076"/>
          <ac:picMkLst>
            <pc:docMk/>
            <pc:sldMk cId="1666574771" sldId="435"/>
            <ac:picMk id="4" creationId="{1CD830A2-777E-652C-E424-F0929EDD375F}"/>
          </ac:picMkLst>
        </pc:picChg>
      </pc:sldChg>
      <pc:sldChg chg="addSp delSp modSp add mod">
        <pc:chgData name="George Mount" userId="22d0b802-afc6-4b8f-ba57-7a855d96927f" providerId="ADAL" clId="{F0CB5FCE-7CF8-4FA6-9065-772A4CECA37B}" dt="2025-12-23T18:02:22.542" v="156" actId="1076"/>
        <pc:sldMkLst>
          <pc:docMk/>
          <pc:sldMk cId="809145610" sldId="436"/>
        </pc:sldMkLst>
        <pc:spChg chg="del">
          <ac:chgData name="George Mount" userId="22d0b802-afc6-4b8f-ba57-7a855d96927f" providerId="ADAL" clId="{F0CB5FCE-7CF8-4FA6-9065-772A4CECA37B}" dt="2025-12-23T18:02:18.128" v="152" actId="478"/>
          <ac:spMkLst>
            <pc:docMk/>
            <pc:sldMk cId="809145610" sldId="436"/>
            <ac:spMk id="3" creationId="{4A5099CB-C7E9-3B39-C340-F541298B52BD}"/>
          </ac:spMkLst>
        </pc:spChg>
        <pc:spChg chg="mod">
          <ac:chgData name="George Mount" userId="22d0b802-afc6-4b8f-ba57-7a855d96927f" providerId="ADAL" clId="{F0CB5FCE-7CF8-4FA6-9065-772A4CECA37B}" dt="2025-12-23T18:01:42.816" v="149" actId="20577"/>
          <ac:spMkLst>
            <pc:docMk/>
            <pc:sldMk cId="809145610" sldId="436"/>
            <ac:spMk id="11" creationId="{668E35D0-020D-7C4C-6111-D28C836DA3D5}"/>
          </ac:spMkLst>
        </pc:spChg>
        <pc:picChg chg="del">
          <ac:chgData name="George Mount" userId="22d0b802-afc6-4b8f-ba57-7a855d96927f" providerId="ADAL" clId="{F0CB5FCE-7CF8-4FA6-9065-772A4CECA37B}" dt="2025-12-23T18:01:45.689" v="151" actId="478"/>
          <ac:picMkLst>
            <pc:docMk/>
            <pc:sldMk cId="809145610" sldId="436"/>
            <ac:picMk id="2" creationId="{8D8D780A-7D6A-EAA6-8B16-85234B5F3B80}"/>
          </ac:picMkLst>
        </pc:picChg>
        <pc:picChg chg="del">
          <ac:chgData name="George Mount" userId="22d0b802-afc6-4b8f-ba57-7a855d96927f" providerId="ADAL" clId="{F0CB5FCE-7CF8-4FA6-9065-772A4CECA37B}" dt="2025-12-23T18:01:44.837" v="150" actId="478"/>
          <ac:picMkLst>
            <pc:docMk/>
            <pc:sldMk cId="809145610" sldId="436"/>
            <ac:picMk id="4" creationId="{FB3393BA-FC37-73B7-E864-3F76544C20A8}"/>
          </ac:picMkLst>
        </pc:picChg>
        <pc:picChg chg="add mod">
          <ac:chgData name="George Mount" userId="22d0b802-afc6-4b8f-ba57-7a855d96927f" providerId="ADAL" clId="{F0CB5FCE-7CF8-4FA6-9065-772A4CECA37B}" dt="2025-12-23T18:02:22.542" v="156" actId="1076"/>
          <ac:picMkLst>
            <pc:docMk/>
            <pc:sldMk cId="809145610" sldId="436"/>
            <ac:picMk id="5" creationId="{4613A412-C0BF-36B9-0B84-8CA1FD793894}"/>
          </ac:picMkLst>
        </pc:picChg>
      </pc:sldChg>
      <pc:sldChg chg="add del">
        <pc:chgData name="George Mount" userId="22d0b802-afc6-4b8f-ba57-7a855d96927f" providerId="ADAL" clId="{F0CB5FCE-7CF8-4FA6-9065-772A4CECA37B}" dt="2025-12-23T17:56:39.553" v="52" actId="47"/>
        <pc:sldMkLst>
          <pc:docMk/>
          <pc:sldMk cId="2030039483" sldId="436"/>
        </pc:sldMkLst>
      </pc:sldChg>
      <pc:sldChg chg="add del">
        <pc:chgData name="George Mount" userId="22d0b802-afc6-4b8f-ba57-7a855d96927f" providerId="ADAL" clId="{F0CB5FCE-7CF8-4FA6-9065-772A4CECA37B}" dt="2025-12-23T18:02:30.225" v="158" actId="47"/>
        <pc:sldMkLst>
          <pc:docMk/>
          <pc:sldMk cId="3306760755" sldId="437"/>
        </pc:sldMkLst>
      </pc:sldChg>
      <pc:sldChg chg="modSp add mod">
        <pc:chgData name="George Mount" userId="22d0b802-afc6-4b8f-ba57-7a855d96927f" providerId="ADAL" clId="{F0CB5FCE-7CF8-4FA6-9065-772A4CECA37B}" dt="2025-12-23T18:03:29.765" v="230" actId="403"/>
        <pc:sldMkLst>
          <pc:docMk/>
          <pc:sldMk cId="3810609810" sldId="437"/>
        </pc:sldMkLst>
        <pc:spChg chg="mod">
          <ac:chgData name="George Mount" userId="22d0b802-afc6-4b8f-ba57-7a855d96927f" providerId="ADAL" clId="{F0CB5FCE-7CF8-4FA6-9065-772A4CECA37B}" dt="2025-12-23T18:03:29.765" v="230" actId="403"/>
          <ac:spMkLst>
            <pc:docMk/>
            <pc:sldMk cId="3810609810" sldId="437"/>
            <ac:spMk id="3" creationId="{AF4EAA44-47AD-6B16-F0FC-1A4118C515A0}"/>
          </ac:spMkLst>
        </pc:spChg>
        <pc:spChg chg="mod">
          <ac:chgData name="George Mount" userId="22d0b802-afc6-4b8f-ba57-7a855d96927f" providerId="ADAL" clId="{F0CB5FCE-7CF8-4FA6-9065-772A4CECA37B}" dt="2025-12-23T18:02:48.666" v="208" actId="14100"/>
          <ac:spMkLst>
            <pc:docMk/>
            <pc:sldMk cId="3810609810" sldId="437"/>
            <ac:spMk id="11" creationId="{DCCC9DDB-8619-8424-D922-E6CF43B58635}"/>
          </ac:spMkLst>
        </pc:spChg>
      </pc:sldChg>
      <pc:sldChg chg="addSp delSp modSp add mod">
        <pc:chgData name="George Mount" userId="22d0b802-afc6-4b8f-ba57-7a855d96927f" providerId="ADAL" clId="{F0CB5FCE-7CF8-4FA6-9065-772A4CECA37B}" dt="2025-12-23T18:05:03.410" v="288" actId="14100"/>
        <pc:sldMkLst>
          <pc:docMk/>
          <pc:sldMk cId="2080782528" sldId="438"/>
        </pc:sldMkLst>
        <pc:spChg chg="del">
          <ac:chgData name="George Mount" userId="22d0b802-afc6-4b8f-ba57-7a855d96927f" providerId="ADAL" clId="{F0CB5FCE-7CF8-4FA6-9065-772A4CECA37B}" dt="2025-12-23T18:04:25.130" v="277" actId="478"/>
          <ac:spMkLst>
            <pc:docMk/>
            <pc:sldMk cId="2080782528" sldId="438"/>
            <ac:spMk id="3" creationId="{E6A1C45E-0782-CB4D-F73E-553168C8E24A}"/>
          </ac:spMkLst>
        </pc:spChg>
        <pc:spChg chg="mod">
          <ac:chgData name="George Mount" userId="22d0b802-afc6-4b8f-ba57-7a855d96927f" providerId="ADAL" clId="{F0CB5FCE-7CF8-4FA6-9065-772A4CECA37B}" dt="2025-12-23T18:04:15.598" v="274" actId="20577"/>
          <ac:spMkLst>
            <pc:docMk/>
            <pc:sldMk cId="2080782528" sldId="438"/>
            <ac:spMk id="11" creationId="{16F328D8-003D-E872-C041-75D1DDB8E5A9}"/>
          </ac:spMkLst>
        </pc:spChg>
        <pc:graphicFrameChg chg="add mod">
          <ac:chgData name="George Mount" userId="22d0b802-afc6-4b8f-ba57-7a855d96927f" providerId="ADAL" clId="{F0CB5FCE-7CF8-4FA6-9065-772A4CECA37B}" dt="2025-12-23T18:05:03.410" v="288" actId="14100"/>
          <ac:graphicFrameMkLst>
            <pc:docMk/>
            <pc:sldMk cId="2080782528" sldId="438"/>
            <ac:graphicFrameMk id="5" creationId="{092E9CA5-1C06-3CCA-B46E-D4BEE7105B2E}"/>
          </ac:graphicFrameMkLst>
        </pc:graphicFrameChg>
        <pc:picChg chg="del">
          <ac:chgData name="George Mount" userId="22d0b802-afc6-4b8f-ba57-7a855d96927f" providerId="ADAL" clId="{F0CB5FCE-7CF8-4FA6-9065-772A4CECA37B}" dt="2025-12-23T18:04:22.898" v="276" actId="478"/>
          <ac:picMkLst>
            <pc:docMk/>
            <pc:sldMk cId="2080782528" sldId="438"/>
            <ac:picMk id="2" creationId="{93789D90-27E6-BB03-2A5D-CF0C1B3721CE}"/>
          </ac:picMkLst>
        </pc:picChg>
        <pc:picChg chg="del">
          <ac:chgData name="George Mount" userId="22d0b802-afc6-4b8f-ba57-7a855d96927f" providerId="ADAL" clId="{F0CB5FCE-7CF8-4FA6-9065-772A4CECA37B}" dt="2025-12-23T18:04:21.561" v="275" actId="478"/>
          <ac:picMkLst>
            <pc:docMk/>
            <pc:sldMk cId="2080782528" sldId="438"/>
            <ac:picMk id="4" creationId="{F4475AF5-D810-B45A-8852-AA0E2C8663B9}"/>
          </ac:picMkLst>
        </pc:picChg>
      </pc:sldChg>
      <pc:sldChg chg="modSp add mod">
        <pc:chgData name="George Mount" userId="22d0b802-afc6-4b8f-ba57-7a855d96927f" providerId="ADAL" clId="{F0CB5FCE-7CF8-4FA6-9065-772A4CECA37B}" dt="2025-12-23T18:05:42.155" v="322" actId="1076"/>
        <pc:sldMkLst>
          <pc:docMk/>
          <pc:sldMk cId="287064224" sldId="439"/>
        </pc:sldMkLst>
        <pc:spChg chg="mod">
          <ac:chgData name="George Mount" userId="22d0b802-afc6-4b8f-ba57-7a855d96927f" providerId="ADAL" clId="{F0CB5FCE-7CF8-4FA6-9065-772A4CECA37B}" dt="2025-12-23T18:05:42.155" v="322" actId="1076"/>
          <ac:spMkLst>
            <pc:docMk/>
            <pc:sldMk cId="287064224" sldId="439"/>
            <ac:spMk id="3" creationId="{026D6505-3055-1BDA-D17C-F3E9A26B84D7}"/>
          </ac:spMkLst>
        </pc:spChg>
        <pc:spChg chg="mod">
          <ac:chgData name="George Mount" userId="22d0b802-afc6-4b8f-ba57-7a855d96927f" providerId="ADAL" clId="{F0CB5FCE-7CF8-4FA6-9065-772A4CECA37B}" dt="2025-12-23T18:05:19.762" v="316" actId="20577"/>
          <ac:spMkLst>
            <pc:docMk/>
            <pc:sldMk cId="287064224" sldId="439"/>
            <ac:spMk id="11" creationId="{5BD1FE43-F84A-91B2-5168-01404951430D}"/>
          </ac:spMkLst>
        </pc:spChg>
      </pc:sldChg>
      <pc:sldChg chg="modSp add mod">
        <pc:chgData name="George Mount" userId="22d0b802-afc6-4b8f-ba57-7a855d96927f" providerId="ADAL" clId="{F0CB5FCE-7CF8-4FA6-9065-772A4CECA37B}" dt="2025-12-23T18:08:00.904" v="388" actId="12"/>
        <pc:sldMkLst>
          <pc:docMk/>
          <pc:sldMk cId="2527174841" sldId="440"/>
        </pc:sldMkLst>
        <pc:spChg chg="mod">
          <ac:chgData name="George Mount" userId="22d0b802-afc6-4b8f-ba57-7a855d96927f" providerId="ADAL" clId="{F0CB5FCE-7CF8-4FA6-9065-772A4CECA37B}" dt="2025-12-23T18:08:00.904" v="388" actId="12"/>
          <ac:spMkLst>
            <pc:docMk/>
            <pc:sldMk cId="2527174841" sldId="440"/>
            <ac:spMk id="3" creationId="{9712491D-60F5-6831-44A7-9D86FC282C0C}"/>
          </ac:spMkLst>
        </pc:spChg>
      </pc:sldChg>
      <pc:sldChg chg="modSp add mod">
        <pc:chgData name="George Mount" userId="22d0b802-afc6-4b8f-ba57-7a855d96927f" providerId="ADAL" clId="{F0CB5FCE-7CF8-4FA6-9065-772A4CECA37B}" dt="2025-12-23T18:08:37.892" v="441" actId="404"/>
        <pc:sldMkLst>
          <pc:docMk/>
          <pc:sldMk cId="2024063702" sldId="441"/>
        </pc:sldMkLst>
        <pc:spChg chg="mod">
          <ac:chgData name="George Mount" userId="22d0b802-afc6-4b8f-ba57-7a855d96927f" providerId="ADAL" clId="{F0CB5FCE-7CF8-4FA6-9065-772A4CECA37B}" dt="2025-12-23T18:08:22.746" v="391" actId="12"/>
          <ac:spMkLst>
            <pc:docMk/>
            <pc:sldMk cId="2024063702" sldId="441"/>
            <ac:spMk id="3" creationId="{1544D881-799F-2398-E268-C00B992D571F}"/>
          </ac:spMkLst>
        </pc:spChg>
        <pc:spChg chg="mod">
          <ac:chgData name="George Mount" userId="22d0b802-afc6-4b8f-ba57-7a855d96927f" providerId="ADAL" clId="{F0CB5FCE-7CF8-4FA6-9065-772A4CECA37B}" dt="2025-12-23T18:08:37.892" v="441" actId="404"/>
          <ac:spMkLst>
            <pc:docMk/>
            <pc:sldMk cId="2024063702" sldId="441"/>
            <ac:spMk id="11" creationId="{DB22CC31-F017-7D94-3505-D0C3CB89C9C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2/13/2026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https://chatgpt.com/c/698e1f57-0a4c-8333-9aaa-5083fb14add2</a:t>
            </a:r>
          </a:p>
        </p:txBody>
      </p:sp>
      <p:sp>
        <p:nvSpPr>
          <p:cNvPr id="4" name="Slide Number Placeholder 3"/>
          <p:cNvSpPr>
            <a:spLocks noGrp="1"/>
          </p:cNvSpPr>
          <p:nvPr>
            <p:ph type="sldNum" sz="quarter" idx="5"/>
          </p:nvPr>
        </p:nvSpPr>
        <p:spPr/>
        <p:txBody>
          <a:bodyPr/>
          <a:lstStyle/>
          <a:p>
            <a:fld id="{FFB500C5-13F7-48FC-8160-C29AECF6C602}" type="slidenum">
              <a:rPr lang="en-US" smtClean="0"/>
              <a:t>1</a:t>
            </a:fld>
            <a:endParaRPr lang="en-US"/>
          </a:p>
        </p:txBody>
      </p:sp>
    </p:spTree>
    <p:extLst>
      <p:ext uri="{BB962C8B-B14F-4D97-AF65-F5344CB8AC3E}">
        <p14:creationId xmlns:p14="http://schemas.microsoft.com/office/powerpoint/2010/main" val="3247180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into the substance, just a quick bit of housekeeping. The replay for this session will be available inside the membership, and there is a one-dollar first-month trial option if you’d like access. All of the files we use today — including the demo workbook and the instruction examples — are available for download, so nothing we cover is one-and-done. You’ll be able to revisit the model, inspect the checks, and work through it at your own pace afterward.</a:t>
            </a:r>
          </a:p>
        </p:txBody>
      </p:sp>
      <p:sp>
        <p:nvSpPr>
          <p:cNvPr id="4" name="Slide Number Placeholder 3"/>
          <p:cNvSpPr>
            <a:spLocks noGrp="1"/>
          </p:cNvSpPr>
          <p:nvPr>
            <p:ph type="sldNum" sz="quarter" idx="5"/>
          </p:nvPr>
        </p:nvSpPr>
        <p:spPr/>
        <p:txBody>
          <a:bodyPr/>
          <a:lstStyle/>
          <a:p>
            <a:fld id="{FFB500C5-13F7-48FC-8160-C29AECF6C602}" type="slidenum">
              <a:rPr lang="en-US" smtClean="0"/>
              <a:t>2</a:t>
            </a:fld>
            <a:endParaRPr lang="en-US"/>
          </a:p>
        </p:txBody>
      </p:sp>
    </p:spTree>
    <p:extLst>
      <p:ext uri="{BB962C8B-B14F-4D97-AF65-F5344CB8AC3E}">
        <p14:creationId xmlns:p14="http://schemas.microsoft.com/office/powerpoint/2010/main" val="3314691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406E6-1CF1-3EED-3863-827B3B18B3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8B0D2-FF92-58D5-F24E-13F97287C1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1703E-B364-65A6-56C9-443945DDAD39}"/>
              </a:ext>
            </a:extLst>
          </p:cNvPr>
          <p:cNvSpPr>
            <a:spLocks noGrp="1"/>
          </p:cNvSpPr>
          <p:nvPr>
            <p:ph type="body" idx="1"/>
          </p:nvPr>
        </p:nvSpPr>
        <p:spPr/>
        <p:txBody>
          <a:bodyPr/>
          <a:lstStyle/>
          <a:p>
            <a:r>
              <a:rPr lang="en-US" dirty="0"/>
              <a:t>Let me explain why this conversation matters. Agent Mode can rewrite formulas, restructure sheets, and extend logic very quickly. That speed is impressive — and genuinely useful. But speed combined with automation increases the risk of silent breakage. And silent breakage is dangerous because everything can look fine on the surface while being structurally wrong underneath. The faster the tool becomes, the more important structural discipline becomes. If we do not define guardrails, we simply accelerate fragility.</a:t>
            </a:r>
          </a:p>
        </p:txBody>
      </p:sp>
      <p:sp>
        <p:nvSpPr>
          <p:cNvPr id="4" name="Slide Number Placeholder 3">
            <a:extLst>
              <a:ext uri="{FF2B5EF4-FFF2-40B4-BE49-F238E27FC236}">
                <a16:creationId xmlns:a16="http://schemas.microsoft.com/office/drawing/2014/main" id="{730E06E2-E1B5-3C04-2AB6-D697656783DC}"/>
              </a:ext>
            </a:extLst>
          </p:cNvPr>
          <p:cNvSpPr>
            <a:spLocks noGrp="1"/>
          </p:cNvSpPr>
          <p:nvPr>
            <p:ph type="sldNum" sz="quarter" idx="5"/>
          </p:nvPr>
        </p:nvSpPr>
        <p:spPr/>
        <p:txBody>
          <a:bodyPr/>
          <a:lstStyle/>
          <a:p>
            <a:fld id="{FFB500C5-13F7-48FC-8160-C29AECF6C602}" type="slidenum">
              <a:rPr lang="en-US" smtClean="0"/>
              <a:t>3</a:t>
            </a:fld>
            <a:endParaRPr lang="en-US"/>
          </a:p>
        </p:txBody>
      </p:sp>
    </p:spTree>
    <p:extLst>
      <p:ext uri="{BB962C8B-B14F-4D97-AF65-F5344CB8AC3E}">
        <p14:creationId xmlns:p14="http://schemas.microsoft.com/office/powerpoint/2010/main" val="2381628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2676C-8DCB-B5C8-FE89-32193FA5B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10B25-F250-48CC-65F8-FC7222159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FB60D-AC59-4413-2354-A74ED4DFC563}"/>
              </a:ext>
            </a:extLst>
          </p:cNvPr>
          <p:cNvSpPr>
            <a:spLocks noGrp="1"/>
          </p:cNvSpPr>
          <p:nvPr>
            <p:ph type="body" idx="1"/>
          </p:nvPr>
        </p:nvSpPr>
        <p:spPr/>
        <p:txBody>
          <a:bodyPr/>
          <a:lstStyle/>
          <a:p>
            <a:r>
              <a:rPr lang="en-US" dirty="0"/>
              <a:t>Most people approach this backwards. They ask, “How do I audit what the agent just did?” That’s a reactive posture. It assumes something has already been built and possibly broken. A more powerful question is this: “How do we define correctness before anything gets built?” When correctness is defined up front, auditing becomes confirmation instead of detective work. You move from cleanup to control.</a:t>
            </a:r>
          </a:p>
        </p:txBody>
      </p:sp>
      <p:sp>
        <p:nvSpPr>
          <p:cNvPr id="4" name="Slide Number Placeholder 3">
            <a:extLst>
              <a:ext uri="{FF2B5EF4-FFF2-40B4-BE49-F238E27FC236}">
                <a16:creationId xmlns:a16="http://schemas.microsoft.com/office/drawing/2014/main" id="{394582BB-046F-B095-B1AF-42E4CAFBF0A5}"/>
              </a:ext>
            </a:extLst>
          </p:cNvPr>
          <p:cNvSpPr>
            <a:spLocks noGrp="1"/>
          </p:cNvSpPr>
          <p:nvPr>
            <p:ph type="sldNum" sz="quarter" idx="5"/>
          </p:nvPr>
        </p:nvSpPr>
        <p:spPr/>
        <p:txBody>
          <a:bodyPr/>
          <a:lstStyle/>
          <a:p>
            <a:fld id="{FFB500C5-13F7-48FC-8160-C29AECF6C602}" type="slidenum">
              <a:rPr lang="en-US" smtClean="0"/>
              <a:t>4</a:t>
            </a:fld>
            <a:endParaRPr lang="en-US"/>
          </a:p>
        </p:txBody>
      </p:sp>
    </p:spTree>
    <p:extLst>
      <p:ext uri="{BB962C8B-B14F-4D97-AF65-F5344CB8AC3E}">
        <p14:creationId xmlns:p14="http://schemas.microsoft.com/office/powerpoint/2010/main" val="2671888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an important difference between prompts and instructions. Prompts are conversational — you steer each time, you react, you refine. Instructions are different. Instructions have to hold up across multiple users and multiple questions. An agent operating under instructions is not just responding once; it is operating under a behavioral contract. And if that contract is vague, the results will be vague. Durable systems require durable instructions.</a:t>
            </a:r>
          </a:p>
        </p:txBody>
      </p:sp>
      <p:sp>
        <p:nvSpPr>
          <p:cNvPr id="4" name="Slide Number Placeholder 3"/>
          <p:cNvSpPr>
            <a:spLocks noGrp="1"/>
          </p:cNvSpPr>
          <p:nvPr>
            <p:ph type="sldNum" sz="quarter" idx="5"/>
          </p:nvPr>
        </p:nvSpPr>
        <p:spPr/>
        <p:txBody>
          <a:bodyPr/>
          <a:lstStyle/>
          <a:p>
            <a:fld id="{FFB500C5-13F7-48FC-8160-C29AECF6C602}" type="slidenum">
              <a:rPr lang="en-US" smtClean="0"/>
              <a:t>5</a:t>
            </a:fld>
            <a:endParaRPr lang="en-US"/>
          </a:p>
        </p:txBody>
      </p:sp>
    </p:spTree>
    <p:extLst>
      <p:ext uri="{BB962C8B-B14F-4D97-AF65-F5344CB8AC3E}">
        <p14:creationId xmlns:p14="http://schemas.microsoft.com/office/powerpoint/2010/main" val="3593344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22078-0583-9CE2-DDB4-2E0D904F3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F08415-86AF-6BED-2B77-F0B958F61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B816EC-4C48-B01E-D607-B4E991A83309}"/>
              </a:ext>
            </a:extLst>
          </p:cNvPr>
          <p:cNvSpPr>
            <a:spLocks noGrp="1"/>
          </p:cNvSpPr>
          <p:nvPr>
            <p:ph type="body" idx="1"/>
          </p:nvPr>
        </p:nvSpPr>
        <p:spPr/>
        <p:txBody>
          <a:bodyPr/>
          <a:lstStyle/>
          <a:p>
            <a:r>
              <a:rPr lang="en-US" dirty="0"/>
              <a:t>This is the framework I recommend for serious agent work. Every agent should have a clearly defined purpose. It should have general guidelines that reflect domain judgment. It should have skills — meaning tool discipline and structural constraints. It should follow a defined workflow, not improvisation. It should have explicit limitations — things it is not allowed to do. And it should include examples that anchor behavior. When you put those pieces together, you move from experimentation to system design.</a:t>
            </a:r>
          </a:p>
        </p:txBody>
      </p:sp>
      <p:sp>
        <p:nvSpPr>
          <p:cNvPr id="4" name="Slide Number Placeholder 3">
            <a:extLst>
              <a:ext uri="{FF2B5EF4-FFF2-40B4-BE49-F238E27FC236}">
                <a16:creationId xmlns:a16="http://schemas.microsoft.com/office/drawing/2014/main" id="{CD7FDD08-4D5B-A9F9-03B1-51F968FA33ED}"/>
              </a:ext>
            </a:extLst>
          </p:cNvPr>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3738956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E2365-A506-7567-7759-7CD6725D6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88DD4-8A28-2484-96CE-6D6383691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A8D87-2B79-BFA6-C0A3-2B0BED5AA343}"/>
              </a:ext>
            </a:extLst>
          </p:cNvPr>
          <p:cNvSpPr>
            <a:spLocks noGrp="1"/>
          </p:cNvSpPr>
          <p:nvPr>
            <p:ph type="body" idx="1"/>
          </p:nvPr>
        </p:nvSpPr>
        <p:spPr/>
        <p:txBody>
          <a:bodyPr/>
          <a:lstStyle/>
          <a:p>
            <a:r>
              <a:rPr lang="en-US" dirty="0"/>
              <a:t>Purpose changes posture more than most people realize. If you tell an agent to “analyze this data,” you’ll get something generic. But if you tell the agent it is responsible for structural integrity, reconciliation, and correctness, the tone changes. The posture changes. You are no longer asking for raw output or content generation. You are assigning responsibility. That framing alone dramatically improves reliability.</a:t>
            </a:r>
          </a:p>
        </p:txBody>
      </p:sp>
      <p:sp>
        <p:nvSpPr>
          <p:cNvPr id="4" name="Slide Number Placeholder 3">
            <a:extLst>
              <a:ext uri="{FF2B5EF4-FFF2-40B4-BE49-F238E27FC236}">
                <a16:creationId xmlns:a16="http://schemas.microsoft.com/office/drawing/2014/main" id="{5D89955F-8E58-E0C5-01C2-61C8E90C426A}"/>
              </a:ext>
            </a:extLst>
          </p:cNvPr>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3220060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7AD99-574B-6BA4-ABD0-A871859CA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DB630-B3D0-B12F-97F1-8177DA34C8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85928-5761-DAFF-242B-A32AA7C1D64B}"/>
              </a:ext>
            </a:extLst>
          </p:cNvPr>
          <p:cNvSpPr>
            <a:spLocks noGrp="1"/>
          </p:cNvSpPr>
          <p:nvPr>
            <p:ph type="body" idx="1"/>
          </p:nvPr>
        </p:nvSpPr>
        <p:spPr/>
        <p:txBody>
          <a:bodyPr/>
          <a:lstStyle/>
          <a:p>
            <a:r>
              <a:rPr lang="en-US" dirty="0"/>
              <a:t>Guidelines are where we take the tacit knowledge of experienced analysts and make it explicit. For example: no non-trivial calculation without a validation check. All totals must reconcile to source data. Use weighted margin logic instead of simple averages. And if a validation fails, stop. These are behaviors strong analysts already practice instinctively. By writing them down, we make them enforceable and machine-readable.</a:t>
            </a:r>
          </a:p>
        </p:txBody>
      </p:sp>
      <p:sp>
        <p:nvSpPr>
          <p:cNvPr id="4" name="Slide Number Placeholder 3">
            <a:extLst>
              <a:ext uri="{FF2B5EF4-FFF2-40B4-BE49-F238E27FC236}">
                <a16:creationId xmlns:a16="http://schemas.microsoft.com/office/drawing/2014/main" id="{F5481913-FF5E-9D6F-4E20-25CCE0C1D93A}"/>
              </a:ext>
            </a:extLst>
          </p:cNvPr>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3172082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2534B-1702-965F-D41D-F2760B2DB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A33B7-0D16-F281-0B25-B2EB14180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96536-11EF-4845-0F0B-AF0DAB0DE55C}"/>
              </a:ext>
            </a:extLst>
          </p:cNvPr>
          <p:cNvSpPr>
            <a:spLocks noGrp="1"/>
          </p:cNvSpPr>
          <p:nvPr>
            <p:ph type="body" idx="1"/>
          </p:nvPr>
        </p:nvSpPr>
        <p:spPr/>
        <p:txBody>
          <a:bodyPr/>
          <a:lstStyle/>
          <a:p>
            <a:r>
              <a:rPr lang="en-US" dirty="0"/>
              <a:t>Skills are about constraining the implementation space. We might require the use of structured Tables instead of loose ranges. We might require SUMIFs or PivotTables for aggregates. We require reconciliation checks. We add boundary test rows. Constraining the tools may sound restrictive, but in practice it reduces fragility. When implementation options are bounded, durability increases.</a:t>
            </a:r>
          </a:p>
        </p:txBody>
      </p:sp>
      <p:sp>
        <p:nvSpPr>
          <p:cNvPr id="4" name="Slide Number Placeholder 3">
            <a:extLst>
              <a:ext uri="{FF2B5EF4-FFF2-40B4-BE49-F238E27FC236}">
                <a16:creationId xmlns:a16="http://schemas.microsoft.com/office/drawing/2014/main" id="{D59B45F6-2A41-7E36-2B39-19C6C0716407}"/>
              </a:ext>
            </a:extLst>
          </p:cNvPr>
          <p:cNvSpPr>
            <a:spLocks noGrp="1"/>
          </p:cNvSpPr>
          <p:nvPr>
            <p:ph type="sldNum" sz="quarter" idx="5"/>
          </p:nvPr>
        </p:nvSpPr>
        <p:spPr/>
        <p:txBody>
          <a:bodyPr/>
          <a:lstStyle/>
          <a:p>
            <a:fld id="{FFB500C5-13F7-48FC-8160-C29AECF6C602}" type="slidenum">
              <a:rPr lang="en-US" smtClean="0"/>
              <a:t>9</a:t>
            </a:fld>
            <a:endParaRPr lang="en-US"/>
          </a:p>
        </p:txBody>
      </p:sp>
    </p:spTree>
    <p:extLst>
      <p:ext uri="{BB962C8B-B14F-4D97-AF65-F5344CB8AC3E}">
        <p14:creationId xmlns:p14="http://schemas.microsoft.com/office/powerpoint/2010/main" val="2360574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8140B-96CC-934B-E0AC-CE669F775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B376FC-8F3A-8511-737D-540C3C3D3D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BA588-5D8E-8319-6A3F-DADDA77F225F}"/>
              </a:ext>
            </a:extLst>
          </p:cNvPr>
          <p:cNvSpPr>
            <a:spLocks noGrp="1"/>
          </p:cNvSpPr>
          <p:nvPr>
            <p:ph type="body" idx="1"/>
          </p:nvPr>
        </p:nvSpPr>
        <p:spPr/>
        <p:txBody>
          <a:bodyPr/>
          <a:lstStyle/>
          <a:p>
            <a:r>
              <a:rPr lang="en-US" dirty="0"/>
              <a:t>A defined workflow prevents the agent from skipping straight to conclusions. First, clarify the question and assumptions. Second, confirm that all baseline tests pass before making any changes. Then extend or adapt the model, adding new validation checks as needed. Re-validate after the change. And only then deliver the result — clearly separating the analytical output from the validation status. Sequence matters. Without it, correctness becomes optional.</a:t>
            </a:r>
          </a:p>
        </p:txBody>
      </p:sp>
      <p:sp>
        <p:nvSpPr>
          <p:cNvPr id="4" name="Slide Number Placeholder 3">
            <a:extLst>
              <a:ext uri="{FF2B5EF4-FFF2-40B4-BE49-F238E27FC236}">
                <a16:creationId xmlns:a16="http://schemas.microsoft.com/office/drawing/2014/main" id="{4A462E2A-C57C-3366-EEBF-DF924E9D75F6}"/>
              </a:ext>
            </a:extLst>
          </p:cNvPr>
          <p:cNvSpPr>
            <a:spLocks noGrp="1"/>
          </p:cNvSpPr>
          <p:nvPr>
            <p:ph type="sldNum" sz="quarter" idx="5"/>
          </p:nvPr>
        </p:nvSpPr>
        <p:spPr/>
        <p:txBody>
          <a:bodyPr/>
          <a:lstStyle/>
          <a:p>
            <a:fld id="{FFB500C5-13F7-48FC-8160-C29AECF6C602}" type="slidenum">
              <a:rPr lang="en-US" smtClean="0"/>
              <a:t>10</a:t>
            </a:fld>
            <a:endParaRPr lang="en-US"/>
          </a:p>
        </p:txBody>
      </p:sp>
    </p:spTree>
    <p:extLst>
      <p:ext uri="{BB962C8B-B14F-4D97-AF65-F5344CB8AC3E}">
        <p14:creationId xmlns:p14="http://schemas.microsoft.com/office/powerpoint/2010/main" val="24514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F330-4DF3-D088-2B17-10255A7E3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332AE-C167-0F2F-FA25-B750192C5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CF06C-1BB7-7051-2EC4-73CE6199A8F4}"/>
              </a:ext>
            </a:extLst>
          </p:cNvPr>
          <p:cNvSpPr>
            <a:spLocks noGrp="1"/>
          </p:cNvSpPr>
          <p:nvPr>
            <p:ph type="body" idx="1"/>
          </p:nvPr>
        </p:nvSpPr>
        <p:spPr/>
        <p:txBody>
          <a:bodyPr/>
          <a:lstStyle/>
          <a:p>
            <a:r>
              <a:rPr lang="en-US" dirty="0"/>
              <a:t>The test sheet becomes the control center of the model. We reconcile revenue, margin, and cost against source data. We enforce invariants like bounds checks and proper weighted logic. We test boundary conditions, such as commission tier breakpoints. We add forecast assertions, like ensuring values are non-negative and respecting defined window rules. This is how correctness is defined before analysis begins.</a:t>
            </a:r>
          </a:p>
        </p:txBody>
      </p:sp>
      <p:sp>
        <p:nvSpPr>
          <p:cNvPr id="4" name="Slide Number Placeholder 3">
            <a:extLst>
              <a:ext uri="{FF2B5EF4-FFF2-40B4-BE49-F238E27FC236}">
                <a16:creationId xmlns:a16="http://schemas.microsoft.com/office/drawing/2014/main" id="{40EC5DB4-179A-5E0F-A6B9-1A99441E3AFF}"/>
              </a:ext>
            </a:extLst>
          </p:cNvPr>
          <p:cNvSpPr>
            <a:spLocks noGrp="1"/>
          </p:cNvSpPr>
          <p:nvPr>
            <p:ph type="sldNum" sz="quarter" idx="5"/>
          </p:nvPr>
        </p:nvSpPr>
        <p:spPr/>
        <p:txBody>
          <a:bodyPr/>
          <a:lstStyle/>
          <a:p>
            <a:fld id="{FFB500C5-13F7-48FC-8160-C29AECF6C602}" type="slidenum">
              <a:rPr lang="en-US" smtClean="0"/>
              <a:t>11</a:t>
            </a:fld>
            <a:endParaRPr lang="en-US"/>
          </a:p>
        </p:txBody>
      </p:sp>
    </p:spTree>
    <p:extLst>
      <p:ext uri="{BB962C8B-B14F-4D97-AF65-F5344CB8AC3E}">
        <p14:creationId xmlns:p14="http://schemas.microsoft.com/office/powerpoint/2010/main" val="408763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8713-B464-923A-022F-E1288A891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6553B-10AC-9EB3-BE99-EE38317D2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938F0-281B-EEE6-62FB-3343C5A8B34B}"/>
              </a:ext>
            </a:extLst>
          </p:cNvPr>
          <p:cNvSpPr>
            <a:spLocks noGrp="1"/>
          </p:cNvSpPr>
          <p:nvPr>
            <p:ph type="body" idx="1"/>
          </p:nvPr>
        </p:nvSpPr>
        <p:spPr/>
        <p:txBody>
          <a:bodyPr/>
          <a:lstStyle/>
          <a:p>
            <a:r>
              <a:rPr lang="en-US" dirty="0"/>
              <a:t>When this structure is in place, good agent behavior becomes very clear. Before analysis begins, the agent should ask clarifying questions if needed, confirm a baseline snapshot exists, and confirm that all validation tests pass. During analysis, it should decompose drivers or build forecasts. After making changes, it should re-check all tests and explicitly report both the results and the validation status. Not just the numbers — the structural health of the model.</a:t>
            </a:r>
          </a:p>
        </p:txBody>
      </p:sp>
      <p:sp>
        <p:nvSpPr>
          <p:cNvPr id="4" name="Slide Number Placeholder 3">
            <a:extLst>
              <a:ext uri="{FF2B5EF4-FFF2-40B4-BE49-F238E27FC236}">
                <a16:creationId xmlns:a16="http://schemas.microsoft.com/office/drawing/2014/main" id="{E6C2A192-2C85-4D4A-361D-3080E1DB6FDD}"/>
              </a:ext>
            </a:extLst>
          </p:cNvPr>
          <p:cNvSpPr>
            <a:spLocks noGrp="1"/>
          </p:cNvSpPr>
          <p:nvPr>
            <p:ph type="sldNum" sz="quarter" idx="5"/>
          </p:nvPr>
        </p:nvSpPr>
        <p:spPr/>
        <p:txBody>
          <a:bodyPr/>
          <a:lstStyle/>
          <a:p>
            <a:fld id="{FFB500C5-13F7-48FC-8160-C29AECF6C602}" type="slidenum">
              <a:rPr lang="en-US" smtClean="0"/>
              <a:t>12</a:t>
            </a:fld>
            <a:endParaRPr lang="en-US"/>
          </a:p>
        </p:txBody>
      </p:sp>
    </p:spTree>
    <p:extLst>
      <p:ext uri="{BB962C8B-B14F-4D97-AF65-F5344CB8AC3E}">
        <p14:creationId xmlns:p14="http://schemas.microsoft.com/office/powerpoint/2010/main" val="2576354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walkthrough, we will build a sales model using Agent Mode. But we will define correctness before building anything. We will give the agent a responsibility contract, not just a task description. We will build reconciliation and validation directly into the model. And we will enforce a strict sequence: validate, modify, re-validate, and then report. Finally, we will intentionally break the model to prove that the checks actually work. If the checks do not catch errors, the system is not ready.</a:t>
            </a:r>
            <a:endParaRPr lang="en-US" sz="1200" dirty="0"/>
          </a:p>
        </p:txBody>
      </p:sp>
      <p:sp>
        <p:nvSpPr>
          <p:cNvPr id="4" name="Slide Number Placeholder 3"/>
          <p:cNvSpPr>
            <a:spLocks noGrp="1"/>
          </p:cNvSpPr>
          <p:nvPr>
            <p:ph type="sldNum" sz="quarter" idx="5"/>
          </p:nvPr>
        </p:nvSpPr>
        <p:spPr/>
        <p:txBody>
          <a:bodyPr/>
          <a:lstStyle/>
          <a:p>
            <a:fld id="{1300335D-9F13-4B80-ADC5-B0EA3E10FF6B}" type="slidenum">
              <a:rPr lang="en-US" smtClean="0"/>
              <a:t>13</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013A-2215-31E1-C2C3-5CC675D41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4D4CD-DBBF-A6BF-0A45-8D7B102A7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C2C427-9B2F-E718-6B8E-8AA898CE05B4}"/>
              </a:ext>
            </a:extLst>
          </p:cNvPr>
          <p:cNvSpPr>
            <a:spLocks noGrp="1"/>
          </p:cNvSpPr>
          <p:nvPr>
            <p:ph type="body" idx="1"/>
          </p:nvPr>
        </p:nvSpPr>
        <p:spPr/>
        <p:txBody>
          <a:bodyPr/>
          <a:lstStyle/>
          <a:p>
            <a:r>
              <a:rPr lang="en-US" dirty="0"/>
              <a:t>Without this structure, predictable failures occur. You get summaries that sound plausible but do not reconcile. You get silent logic patches just to make numbers tie out. You get schema edits that quietly break downstream calculations. You get overconfident causal claims that are not supported. The fix is straightforward: require validation checks, enforce stop conditions, separate analytical results from validation status, and limit what the agent is allowed to change. Structural discipline protects credibility.</a:t>
            </a:r>
          </a:p>
        </p:txBody>
      </p:sp>
      <p:sp>
        <p:nvSpPr>
          <p:cNvPr id="4" name="Slide Number Placeholder 3">
            <a:extLst>
              <a:ext uri="{FF2B5EF4-FFF2-40B4-BE49-F238E27FC236}">
                <a16:creationId xmlns:a16="http://schemas.microsoft.com/office/drawing/2014/main" id="{44357221-F841-71F6-EFFD-AE2AA3BA1476}"/>
              </a:ext>
            </a:extLst>
          </p:cNvPr>
          <p:cNvSpPr>
            <a:spLocks noGrp="1"/>
          </p:cNvSpPr>
          <p:nvPr>
            <p:ph type="sldNum" sz="quarter" idx="5"/>
          </p:nvPr>
        </p:nvSpPr>
        <p:spPr/>
        <p:txBody>
          <a:bodyPr/>
          <a:lstStyle/>
          <a:p>
            <a:fld id="{FFB500C5-13F7-48FC-8160-C29AECF6C602}" type="slidenum">
              <a:rPr lang="en-US" smtClean="0"/>
              <a:t>14</a:t>
            </a:fld>
            <a:endParaRPr lang="en-US"/>
          </a:p>
        </p:txBody>
      </p:sp>
    </p:spTree>
    <p:extLst>
      <p:ext uri="{BB962C8B-B14F-4D97-AF65-F5344CB8AC3E}">
        <p14:creationId xmlns:p14="http://schemas.microsoft.com/office/powerpoint/2010/main" val="41848458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586C8-876B-4E0B-133D-CF6F71421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F4D1D-39A7-84FF-AABD-727E0A0A0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4039E0-DD43-104E-25AD-1171B3BDF768}"/>
              </a:ext>
            </a:extLst>
          </p:cNvPr>
          <p:cNvSpPr>
            <a:spLocks noGrp="1"/>
          </p:cNvSpPr>
          <p:nvPr>
            <p:ph type="body" idx="1"/>
          </p:nvPr>
        </p:nvSpPr>
        <p:spPr/>
        <p:txBody>
          <a:bodyPr/>
          <a:lstStyle/>
          <a:p>
            <a:r>
              <a:rPr lang="en-US" dirty="0"/>
              <a:t>To close, members will have access to the replay automatically. Non-members can access it inside the membership with the one-dollar first-month option. The download files are already available, and follow-up instructions will be sent by email shortly. </a:t>
            </a:r>
            <a:r>
              <a:rPr lang="en-US"/>
              <a:t>Everything we’ve discussed today is meant to be reproducible, not theoretical.</a:t>
            </a:r>
            <a:endParaRPr lang="en-US" dirty="0"/>
          </a:p>
        </p:txBody>
      </p:sp>
      <p:sp>
        <p:nvSpPr>
          <p:cNvPr id="4" name="Slide Number Placeholder 3">
            <a:extLst>
              <a:ext uri="{FF2B5EF4-FFF2-40B4-BE49-F238E27FC236}">
                <a16:creationId xmlns:a16="http://schemas.microsoft.com/office/drawing/2014/main" id="{CB516CAE-9D6F-1444-F815-D69B28C1C666}"/>
              </a:ext>
            </a:extLst>
          </p:cNvPr>
          <p:cNvSpPr>
            <a:spLocks noGrp="1"/>
          </p:cNvSpPr>
          <p:nvPr>
            <p:ph type="sldNum" sz="quarter" idx="5"/>
          </p:nvPr>
        </p:nvSpPr>
        <p:spPr/>
        <p:txBody>
          <a:bodyPr/>
          <a:lstStyle/>
          <a:p>
            <a:fld id="{FFB500C5-13F7-48FC-8160-C29AECF6C602}" type="slidenum">
              <a:rPr lang="en-US" smtClean="0"/>
              <a:t>15</a:t>
            </a:fld>
            <a:endParaRPr lang="en-US"/>
          </a:p>
        </p:txBody>
      </p:sp>
    </p:spTree>
    <p:extLst>
      <p:ext uri="{BB962C8B-B14F-4D97-AF65-F5344CB8AC3E}">
        <p14:creationId xmlns:p14="http://schemas.microsoft.com/office/powerpoint/2010/main" val="2747999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tringfestdata.gumroad.com/l/mxlais?layout=profile"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github.com/stringfestdata/agent-mode-excel-serious-work/archive/refs/heads/main.zi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techcommunity.microsoft.com/blog/healthcareandlifesciencesblog/copilot-agents-from-prompts-to-agents/4465332"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The image depicts a futuristic robotic figure with a calculator and Excel logo, emphasizing the use of advanced software for serious work tasks.&#10;&#10;AI-generated content may be incorrect.">
            <a:extLst>
              <a:ext uri="{FF2B5EF4-FFF2-40B4-BE49-F238E27FC236}">
                <a16:creationId xmlns:a16="http://schemas.microsoft.com/office/drawing/2014/main" id="{D91DE760-6D47-CA20-96E8-4F46065466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 y="-38100"/>
            <a:ext cx="15487650" cy="10325100"/>
          </a:xfrm>
          <a:prstGeom prst="rect">
            <a:avLst/>
          </a:prstGeom>
        </p:spPr>
      </p:pic>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3728539" cy="1477328"/>
          </a:xfrm>
          <a:prstGeom prst="rect">
            <a:avLst/>
          </a:prstGeom>
          <a:noFill/>
        </p:spPr>
        <p:txBody>
          <a:bodyPr wrap="square" rtlCol="0">
            <a:spAutoFit/>
          </a:bodyPr>
          <a:lstStyle/>
          <a:p>
            <a:r>
              <a:rPr lang="en-US" sz="9000" dirty="0">
                <a:latin typeface="Aliens &amp; cows" panose="00000500000000000000" pitchFamily="2" charset="0"/>
              </a:rPr>
              <a:t>Housekeeping</a:t>
            </a:r>
          </a:p>
        </p:txBody>
      </p:sp>
      <p:sp>
        <p:nvSpPr>
          <p:cNvPr id="3" name="TextBox 2"/>
          <p:cNvSpPr txBox="1"/>
          <p:nvPr/>
        </p:nvSpPr>
        <p:spPr>
          <a:xfrm>
            <a:off x="520861" y="3191948"/>
            <a:ext cx="14393120" cy="4524315"/>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Replay: Inside membership </a:t>
            </a:r>
            <a:r>
              <a:rPr lang="en-US" sz="4800" dirty="0">
                <a:solidFill>
                  <a:srgbClr val="707070"/>
                </a:solidFill>
                <a:latin typeface="Pragmatica" panose="020B0403040502020204" pitchFamily="34" charset="0"/>
                <a:hlinkClick r:id="rId3"/>
              </a:rPr>
              <a:t>https://stringfestdata.gumroad.com/l/mxlais?layout=profile</a:t>
            </a:r>
            <a:r>
              <a:rPr lang="en-US" sz="4800" dirty="0">
                <a:solidFill>
                  <a:srgbClr val="707070"/>
                </a:solidFill>
                <a:latin typeface="Pragmatica" panose="020B0403040502020204" pitchFamily="34" charset="0"/>
              </a:rPr>
              <a:t> </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$1 first-month trial option</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Downloads: </a:t>
            </a:r>
            <a:r>
              <a:rPr lang="en-US" sz="4800" dirty="0">
                <a:solidFill>
                  <a:srgbClr val="707070"/>
                </a:solidFill>
                <a:latin typeface="Pragmatica" panose="020B0403040502020204" pitchFamily="34" charset="0"/>
                <a:hlinkClick r:id="rId4"/>
              </a:rPr>
              <a:t>https://github.com/stringfestdata/agent-mode-excel-serious-work/archive/refs/heads/main.zip</a:t>
            </a:r>
            <a:r>
              <a:rPr lang="en-US" sz="4800" dirty="0">
                <a:solidFill>
                  <a:srgbClr val="707070"/>
                </a:solidFill>
                <a:latin typeface="Pragmatica" panose="020B0403040502020204" pitchFamily="34" charset="0"/>
              </a:rPr>
              <a:t> </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A767B-C9F7-069A-B2C7-F46C884A444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F12637B-1036-9CA6-D3B9-BCB23DCD4338}"/>
              </a:ext>
            </a:extLst>
          </p:cNvPr>
          <p:cNvSpPr txBox="1"/>
          <p:nvPr/>
        </p:nvSpPr>
        <p:spPr>
          <a:xfrm>
            <a:off x="520861" y="170082"/>
            <a:ext cx="13728539" cy="1477328"/>
          </a:xfrm>
          <a:prstGeom prst="rect">
            <a:avLst/>
          </a:prstGeom>
          <a:noFill/>
        </p:spPr>
        <p:txBody>
          <a:bodyPr wrap="square" rtlCol="0">
            <a:spAutoFit/>
          </a:bodyPr>
          <a:lstStyle/>
          <a:p>
            <a:r>
              <a:rPr lang="en-US" sz="9000" dirty="0">
                <a:latin typeface="Aliens &amp; cows" panose="00000500000000000000" pitchFamily="2" charset="0"/>
              </a:rPr>
              <a:t>Why this matters</a:t>
            </a:r>
          </a:p>
        </p:txBody>
      </p:sp>
      <p:sp>
        <p:nvSpPr>
          <p:cNvPr id="3" name="TextBox 2">
            <a:extLst>
              <a:ext uri="{FF2B5EF4-FFF2-40B4-BE49-F238E27FC236}">
                <a16:creationId xmlns:a16="http://schemas.microsoft.com/office/drawing/2014/main" id="{78B2F18C-1D8F-BD83-4E80-F58864282C87}"/>
              </a:ext>
            </a:extLst>
          </p:cNvPr>
          <p:cNvSpPr txBox="1"/>
          <p:nvPr/>
        </p:nvSpPr>
        <p:spPr>
          <a:xfrm>
            <a:off x="520861" y="3191948"/>
            <a:ext cx="14393120" cy="3785652"/>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Agent Mode can rewrite formulas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Agent Mode can restructure sheets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Agent Mode can extend logic fast</a:t>
            </a:r>
          </a:p>
          <a:p>
            <a:pPr>
              <a:buClr>
                <a:srgbClr val="CF3338"/>
              </a:buClr>
            </a:pPr>
            <a:endParaRPr lang="en-US" sz="4800" dirty="0">
              <a:solidFill>
                <a:srgbClr val="707070"/>
              </a:solidFill>
              <a:latin typeface="Pragmatica" panose="020B0403040502020204" pitchFamily="34" charset="0"/>
            </a:endParaRPr>
          </a:p>
          <a:p>
            <a:pPr>
              <a:buClr>
                <a:srgbClr val="CF3338"/>
              </a:buClr>
            </a:pPr>
            <a:r>
              <a:rPr lang="en-US" sz="4800" b="1" i="1" dirty="0">
                <a:solidFill>
                  <a:srgbClr val="707070"/>
                </a:solidFill>
                <a:latin typeface="Pragmatica" panose="020B0403040502020204" pitchFamily="34" charset="0"/>
              </a:rPr>
              <a:t>Speed and automation increase “silent breakage” risk</a:t>
            </a:r>
          </a:p>
        </p:txBody>
      </p:sp>
      <p:pic>
        <p:nvPicPr>
          <p:cNvPr id="15" name="Picture 14" descr="A close up of a sign&#10;&#10;Description automatically generated">
            <a:extLst>
              <a:ext uri="{FF2B5EF4-FFF2-40B4-BE49-F238E27FC236}">
                <a16:creationId xmlns:a16="http://schemas.microsoft.com/office/drawing/2014/main" id="{81D89AD7-E54E-4D77-514C-2FFE384961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216282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582CC-2144-CAB1-3BB1-F4BF110A133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B9BF26C-9B28-118E-27BB-932E80A85302}"/>
              </a:ext>
            </a:extLst>
          </p:cNvPr>
          <p:cNvSpPr txBox="1"/>
          <p:nvPr/>
        </p:nvSpPr>
        <p:spPr>
          <a:xfrm>
            <a:off x="520861" y="170082"/>
            <a:ext cx="13728539" cy="1477328"/>
          </a:xfrm>
          <a:prstGeom prst="rect">
            <a:avLst/>
          </a:prstGeom>
          <a:noFill/>
        </p:spPr>
        <p:txBody>
          <a:bodyPr wrap="square" rtlCol="0">
            <a:spAutoFit/>
          </a:bodyPr>
          <a:lstStyle/>
          <a:p>
            <a:r>
              <a:rPr lang="en-US" sz="9000" dirty="0">
                <a:latin typeface="Aliens &amp; cows" panose="00000500000000000000" pitchFamily="2" charset="0"/>
              </a:rPr>
              <a:t>The real question</a:t>
            </a:r>
          </a:p>
        </p:txBody>
      </p:sp>
      <p:pic>
        <p:nvPicPr>
          <p:cNvPr id="15" name="Picture 14" descr="A close up of a sign&#10;&#10;Description automatically generated">
            <a:extLst>
              <a:ext uri="{FF2B5EF4-FFF2-40B4-BE49-F238E27FC236}">
                <a16:creationId xmlns:a16="http://schemas.microsoft.com/office/drawing/2014/main" id="{1112D171-E981-14DF-5CBC-0E2A8A73B3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2" name="TextBox 1">
            <a:extLst>
              <a:ext uri="{FF2B5EF4-FFF2-40B4-BE49-F238E27FC236}">
                <a16:creationId xmlns:a16="http://schemas.microsoft.com/office/drawing/2014/main" id="{9912960B-E815-9F81-1609-A11A5675EC7E}"/>
              </a:ext>
            </a:extLst>
          </p:cNvPr>
          <p:cNvSpPr txBox="1"/>
          <p:nvPr/>
        </p:nvSpPr>
        <p:spPr>
          <a:xfrm>
            <a:off x="609600" y="2705100"/>
            <a:ext cx="16776539" cy="2862322"/>
          </a:xfrm>
          <a:prstGeom prst="rect">
            <a:avLst/>
          </a:prstGeom>
          <a:noFill/>
        </p:spPr>
        <p:txBody>
          <a:bodyPr wrap="square" numCol="2" rtlCol="0">
            <a:spAutoFit/>
          </a:bodyPr>
          <a:lstStyle/>
          <a:p>
            <a:pPr>
              <a:buNone/>
            </a:pPr>
            <a:r>
              <a:rPr lang="en-US" sz="6000" dirty="0">
                <a:solidFill>
                  <a:schemeClr val="bg1">
                    <a:lumMod val="50000"/>
                  </a:schemeClr>
                </a:solidFill>
                <a:latin typeface="Pragmatica" panose="020B0403040502020204"/>
              </a:rPr>
              <a:t>❌ “How do I audit what the agent did?”</a:t>
            </a:r>
          </a:p>
          <a:p>
            <a:pPr>
              <a:buNone/>
            </a:pPr>
            <a:endParaRPr lang="en-US" sz="6000" dirty="0">
              <a:solidFill>
                <a:schemeClr val="bg1">
                  <a:lumMod val="50000"/>
                </a:schemeClr>
              </a:solidFill>
              <a:latin typeface="Pragmatica" panose="020B0403040502020204"/>
            </a:endParaRPr>
          </a:p>
          <a:p>
            <a:pPr>
              <a:buNone/>
            </a:pPr>
            <a:r>
              <a:rPr lang="en-US" sz="6000" dirty="0">
                <a:solidFill>
                  <a:schemeClr val="bg1">
                    <a:lumMod val="50000"/>
                  </a:schemeClr>
                </a:solidFill>
                <a:latin typeface="Pragmatica" panose="020B0403040502020204"/>
              </a:rPr>
              <a:t>✅ “How do we define correctness before anything gets built?”</a:t>
            </a:r>
          </a:p>
        </p:txBody>
      </p:sp>
    </p:spTree>
    <p:extLst>
      <p:ext uri="{BB962C8B-B14F-4D97-AF65-F5344CB8AC3E}">
        <p14:creationId xmlns:p14="http://schemas.microsoft.com/office/powerpoint/2010/main" val="3959414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33C60-80A2-F065-DD48-A92FF3AFB49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7EB3963-7B31-1FA9-D509-4E12DFCB794D}"/>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Copilot prompts </a:t>
            </a:r>
            <a:r>
              <a:rPr lang="en-US" sz="7200" dirty="0"/>
              <a:t>≠</a:t>
            </a:r>
            <a:r>
              <a:rPr lang="en-US" sz="7200" dirty="0">
                <a:latin typeface="Aliens &amp; cows" panose="00000500000000000000" pitchFamily="2" charset="0"/>
              </a:rPr>
              <a:t> agent instructions</a:t>
            </a:r>
          </a:p>
        </p:txBody>
      </p:sp>
      <p:pic>
        <p:nvPicPr>
          <p:cNvPr id="15" name="Picture 14" descr="A close up of a sign&#10;&#10;Description automatically generated">
            <a:extLst>
              <a:ext uri="{FF2B5EF4-FFF2-40B4-BE49-F238E27FC236}">
                <a16:creationId xmlns:a16="http://schemas.microsoft.com/office/drawing/2014/main" id="{B45592AA-4565-78E6-C958-2F60F3DCE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F772A24E-9155-3E9E-DA84-91A2D6CEB967}"/>
              </a:ext>
            </a:extLst>
          </p:cNvPr>
          <p:cNvSpPr txBox="1"/>
          <p:nvPr/>
        </p:nvSpPr>
        <p:spPr>
          <a:xfrm>
            <a:off x="609600" y="2705100"/>
            <a:ext cx="16776539" cy="2862322"/>
          </a:xfrm>
          <a:prstGeom prst="rect">
            <a:avLst/>
          </a:prstGeom>
          <a:noFill/>
        </p:spPr>
        <p:txBody>
          <a:bodyPr wrap="square" numCol="2" rtlCol="0">
            <a:spAutoFit/>
          </a:bodyPr>
          <a:lstStyle/>
          <a:p>
            <a:pPr>
              <a:buNone/>
            </a:pPr>
            <a:r>
              <a:rPr lang="en-US" sz="6000" dirty="0">
                <a:solidFill>
                  <a:schemeClr val="bg1">
                    <a:lumMod val="50000"/>
                  </a:schemeClr>
                </a:solidFill>
              </a:rPr>
              <a:t>Prompts: you steer each time</a:t>
            </a:r>
          </a:p>
          <a:p>
            <a:pPr>
              <a:buNone/>
            </a:pPr>
            <a:endParaRPr lang="en-US" sz="6000" dirty="0">
              <a:solidFill>
                <a:schemeClr val="bg1">
                  <a:lumMod val="50000"/>
                </a:schemeClr>
              </a:solidFill>
            </a:endParaRPr>
          </a:p>
          <a:p>
            <a:pPr>
              <a:buNone/>
            </a:pPr>
            <a:r>
              <a:rPr lang="en-US" sz="6000" dirty="0">
                <a:solidFill>
                  <a:schemeClr val="bg1">
                    <a:lumMod val="50000"/>
                  </a:schemeClr>
                </a:solidFill>
              </a:rPr>
              <a:t>Instructions: must hold up across many users/questions</a:t>
            </a:r>
          </a:p>
        </p:txBody>
      </p:sp>
      <p:sp>
        <p:nvSpPr>
          <p:cNvPr id="7" name="TextBox 6">
            <a:extLst>
              <a:ext uri="{FF2B5EF4-FFF2-40B4-BE49-F238E27FC236}">
                <a16:creationId xmlns:a16="http://schemas.microsoft.com/office/drawing/2014/main" id="{B165B235-F09F-E8A8-1A4C-16AB88C140D0}"/>
              </a:ext>
            </a:extLst>
          </p:cNvPr>
          <p:cNvSpPr txBox="1"/>
          <p:nvPr/>
        </p:nvSpPr>
        <p:spPr>
          <a:xfrm>
            <a:off x="609600" y="8877300"/>
            <a:ext cx="13335000" cy="954107"/>
          </a:xfrm>
          <a:prstGeom prst="rect">
            <a:avLst/>
          </a:prstGeom>
          <a:noFill/>
        </p:spPr>
        <p:txBody>
          <a:bodyPr wrap="square">
            <a:spAutoFit/>
          </a:bodyPr>
          <a:lstStyle/>
          <a:p>
            <a:r>
              <a:rPr lang="en-US" sz="2800" dirty="0">
                <a:hlinkClick r:id="rId4"/>
              </a:rPr>
              <a:t>https://techcommunity.microsoft.com/blog/healthcareandlifesciencesblog/copilot-agents-from-prompts-to-agents/4465332</a:t>
            </a:r>
            <a:r>
              <a:rPr lang="en-US" sz="2800" dirty="0"/>
              <a:t> </a:t>
            </a:r>
          </a:p>
        </p:txBody>
      </p:sp>
    </p:spTree>
    <p:extLst>
      <p:ext uri="{BB962C8B-B14F-4D97-AF65-F5344CB8AC3E}">
        <p14:creationId xmlns:p14="http://schemas.microsoft.com/office/powerpoint/2010/main" val="166657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67A60-79F2-0B88-B0CB-55AE0DC2C6F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414A2B3-61A4-DAD4-77D8-26A749A83FFF}"/>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The instruction framework</a:t>
            </a:r>
          </a:p>
        </p:txBody>
      </p:sp>
      <p:pic>
        <p:nvPicPr>
          <p:cNvPr id="15" name="Picture 14" descr="A close up of a sign&#10;&#10;Description automatically generated">
            <a:extLst>
              <a:ext uri="{FF2B5EF4-FFF2-40B4-BE49-F238E27FC236}">
                <a16:creationId xmlns:a16="http://schemas.microsoft.com/office/drawing/2014/main" id="{7BA84867-1C0A-8546-4D5D-FAF8D2D035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C38D8850-89BF-D523-C2A8-3815BE9691DF}"/>
              </a:ext>
            </a:extLst>
          </p:cNvPr>
          <p:cNvSpPr txBox="1"/>
          <p:nvPr/>
        </p:nvSpPr>
        <p:spPr>
          <a:xfrm>
            <a:off x="609600" y="2705100"/>
            <a:ext cx="16776539" cy="5632311"/>
          </a:xfrm>
          <a:prstGeom prst="rect">
            <a:avLst/>
          </a:prstGeom>
          <a:noFill/>
        </p:spPr>
        <p:txBody>
          <a:bodyPr wrap="square" numCol="1" rtlCol="0">
            <a:spAutoFit/>
          </a:bodyPr>
          <a:lstStyle/>
          <a:p>
            <a:pPr marL="1143000" indent="-1143000">
              <a:buFont typeface="+mj-lt"/>
              <a:buAutoNum type="arabicPeriod"/>
            </a:pPr>
            <a:r>
              <a:rPr lang="en-US" sz="6000" dirty="0">
                <a:solidFill>
                  <a:schemeClr val="bg1">
                    <a:lumMod val="50000"/>
                  </a:schemeClr>
                </a:solidFill>
              </a:rPr>
              <a:t>Purpose</a:t>
            </a:r>
          </a:p>
          <a:p>
            <a:pPr marL="1143000" indent="-1143000">
              <a:buFont typeface="+mj-lt"/>
              <a:buAutoNum type="arabicPeriod"/>
            </a:pPr>
            <a:r>
              <a:rPr lang="en-US" sz="6000" dirty="0">
                <a:solidFill>
                  <a:schemeClr val="bg1">
                    <a:lumMod val="50000"/>
                  </a:schemeClr>
                </a:solidFill>
              </a:rPr>
              <a:t>General Guidelines</a:t>
            </a:r>
          </a:p>
          <a:p>
            <a:pPr marL="1143000" indent="-1143000">
              <a:buFont typeface="+mj-lt"/>
              <a:buAutoNum type="arabicPeriod"/>
            </a:pPr>
            <a:r>
              <a:rPr lang="en-US" sz="6000" dirty="0">
                <a:solidFill>
                  <a:schemeClr val="bg1">
                    <a:lumMod val="50000"/>
                  </a:schemeClr>
                </a:solidFill>
              </a:rPr>
              <a:t>Skills (tool discipline)</a:t>
            </a:r>
          </a:p>
          <a:p>
            <a:pPr marL="1143000" indent="-1143000">
              <a:buFont typeface="+mj-lt"/>
              <a:buAutoNum type="arabicPeriod"/>
            </a:pPr>
            <a:r>
              <a:rPr lang="en-US" sz="6000" dirty="0">
                <a:solidFill>
                  <a:schemeClr val="bg1">
                    <a:lumMod val="50000"/>
                  </a:schemeClr>
                </a:solidFill>
              </a:rPr>
              <a:t>Workflow (step sequence)</a:t>
            </a:r>
          </a:p>
          <a:p>
            <a:pPr marL="1143000" indent="-1143000">
              <a:buFont typeface="+mj-lt"/>
              <a:buAutoNum type="arabicPeriod"/>
            </a:pPr>
            <a:r>
              <a:rPr lang="en-US" sz="6000" dirty="0">
                <a:solidFill>
                  <a:schemeClr val="bg1">
                    <a:lumMod val="50000"/>
                  </a:schemeClr>
                </a:solidFill>
              </a:rPr>
              <a:t>Limitations (what not to do)</a:t>
            </a:r>
          </a:p>
          <a:p>
            <a:pPr marL="1143000" indent="-1143000">
              <a:buFont typeface="+mj-lt"/>
              <a:buAutoNum type="arabicPeriod"/>
            </a:pPr>
            <a:r>
              <a:rPr lang="en-US" sz="6000" dirty="0">
                <a:solidFill>
                  <a:schemeClr val="bg1">
                    <a:lumMod val="50000"/>
                  </a:schemeClr>
                </a:solidFill>
              </a:rPr>
              <a:t>Examples (anchor behavior)</a:t>
            </a:r>
          </a:p>
        </p:txBody>
      </p:sp>
    </p:spTree>
    <p:extLst>
      <p:ext uri="{BB962C8B-B14F-4D97-AF65-F5344CB8AC3E}">
        <p14:creationId xmlns:p14="http://schemas.microsoft.com/office/powerpoint/2010/main" val="2536804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11FCF-C001-B506-810B-834A08AC134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2A5EF96-BE01-4A79-1F41-86F217E11F49}"/>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Purpose that changes posture</a:t>
            </a:r>
          </a:p>
        </p:txBody>
      </p:sp>
      <p:pic>
        <p:nvPicPr>
          <p:cNvPr id="15" name="Picture 14" descr="A close up of a sign&#10;&#10;Description automatically generated">
            <a:extLst>
              <a:ext uri="{FF2B5EF4-FFF2-40B4-BE49-F238E27FC236}">
                <a16:creationId xmlns:a16="http://schemas.microsoft.com/office/drawing/2014/main" id="{DA95257D-296A-69CA-869B-283C1E53D4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CE3CB543-D105-73E3-820B-5903F033C40E}"/>
              </a:ext>
            </a:extLst>
          </p:cNvPr>
          <p:cNvSpPr txBox="1"/>
          <p:nvPr/>
        </p:nvSpPr>
        <p:spPr>
          <a:xfrm>
            <a:off x="609600" y="2705100"/>
            <a:ext cx="16776539" cy="4708981"/>
          </a:xfrm>
          <a:prstGeom prst="rect">
            <a:avLst/>
          </a:prstGeom>
          <a:noFill/>
        </p:spPr>
        <p:txBody>
          <a:bodyPr wrap="square" numCol="1" rtlCol="0">
            <a:spAutoFit/>
          </a:bodyPr>
          <a:lstStyle/>
          <a:p>
            <a:pPr marL="1143000" indent="-1143000">
              <a:buFont typeface="+mj-lt"/>
              <a:buAutoNum type="arabicPeriod"/>
            </a:pPr>
            <a:r>
              <a:rPr lang="en-US" sz="6000" dirty="0">
                <a:solidFill>
                  <a:schemeClr val="bg1">
                    <a:lumMod val="50000"/>
                  </a:schemeClr>
                </a:solidFill>
              </a:rPr>
              <a:t>“Build and maintain…”</a:t>
            </a:r>
          </a:p>
          <a:p>
            <a:pPr marL="1143000" indent="-1143000">
              <a:buFont typeface="+mj-lt"/>
              <a:buAutoNum type="arabicPeriod"/>
            </a:pPr>
            <a:r>
              <a:rPr lang="en-US" sz="6000" dirty="0">
                <a:solidFill>
                  <a:schemeClr val="bg1">
                    <a:lumMod val="50000"/>
                  </a:schemeClr>
                </a:solidFill>
              </a:rPr>
              <a:t>“Responsible for structural integrity”</a:t>
            </a:r>
          </a:p>
          <a:p>
            <a:pPr marL="1143000" indent="-1143000">
              <a:buFont typeface="+mj-lt"/>
              <a:buAutoNum type="arabicPeriod"/>
            </a:pPr>
            <a:r>
              <a:rPr lang="en-US" sz="6000" dirty="0">
                <a:solidFill>
                  <a:schemeClr val="bg1">
                    <a:lumMod val="50000"/>
                  </a:schemeClr>
                </a:solidFill>
              </a:rPr>
              <a:t>“Prioritize reconciliation and correctness”</a:t>
            </a:r>
          </a:p>
          <a:p>
            <a:pPr marL="1143000" indent="-1143000">
              <a:buFont typeface="+mj-lt"/>
              <a:buAutoNum type="arabicPeriod"/>
            </a:pPr>
            <a:endParaRPr lang="en-US" sz="6000" dirty="0">
              <a:solidFill>
                <a:schemeClr val="bg1">
                  <a:lumMod val="50000"/>
                </a:schemeClr>
              </a:solidFill>
            </a:endParaRPr>
          </a:p>
          <a:p>
            <a:r>
              <a:rPr lang="en-US" sz="6000" dirty="0">
                <a:solidFill>
                  <a:schemeClr val="bg1">
                    <a:lumMod val="50000"/>
                  </a:schemeClr>
                </a:solidFill>
              </a:rPr>
              <a:t>Not “Analyze Data.” Not raw content generation. </a:t>
            </a:r>
          </a:p>
        </p:txBody>
      </p:sp>
    </p:spTree>
    <p:extLst>
      <p:ext uri="{BB962C8B-B14F-4D97-AF65-F5344CB8AC3E}">
        <p14:creationId xmlns:p14="http://schemas.microsoft.com/office/powerpoint/2010/main" val="2615945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4FE52-169A-0F1F-890A-0EF0720637E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7E64BA9-A455-A396-B162-365926AB63CA}"/>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Guidelines: tacit knowledge made explicit</a:t>
            </a:r>
          </a:p>
        </p:txBody>
      </p:sp>
      <p:pic>
        <p:nvPicPr>
          <p:cNvPr id="15" name="Picture 14" descr="A close up of a sign&#10;&#10;Description automatically generated">
            <a:extLst>
              <a:ext uri="{FF2B5EF4-FFF2-40B4-BE49-F238E27FC236}">
                <a16:creationId xmlns:a16="http://schemas.microsoft.com/office/drawing/2014/main" id="{02517C62-CA7F-7336-9E26-56C362335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9DE48605-A555-0C54-7C93-2F93BC70874D}"/>
              </a:ext>
            </a:extLst>
          </p:cNvPr>
          <p:cNvSpPr txBox="1"/>
          <p:nvPr/>
        </p:nvSpPr>
        <p:spPr>
          <a:xfrm>
            <a:off x="609600" y="2705100"/>
            <a:ext cx="16776539" cy="3785652"/>
          </a:xfrm>
          <a:prstGeom prst="rect">
            <a:avLst/>
          </a:prstGeom>
          <a:noFill/>
        </p:spPr>
        <p:txBody>
          <a:bodyPr wrap="square" numCol="1" rtlCol="0">
            <a:spAutoFit/>
          </a:bodyPr>
          <a:lstStyle/>
          <a:p>
            <a:pPr marL="1143000" indent="-1143000">
              <a:buFont typeface="+mj-lt"/>
              <a:buAutoNum type="arabicPeriod"/>
            </a:pPr>
            <a:r>
              <a:rPr lang="en-US" sz="6000" dirty="0">
                <a:solidFill>
                  <a:schemeClr val="bg1">
                    <a:lumMod val="50000"/>
                  </a:schemeClr>
                </a:solidFill>
              </a:rPr>
              <a:t>“No non-trivial calcs without a check”</a:t>
            </a:r>
          </a:p>
          <a:p>
            <a:pPr marL="1143000" indent="-1143000">
              <a:buFont typeface="+mj-lt"/>
              <a:buAutoNum type="arabicPeriod"/>
            </a:pPr>
            <a:r>
              <a:rPr lang="en-US" sz="6000" dirty="0">
                <a:solidFill>
                  <a:schemeClr val="bg1">
                    <a:lumMod val="50000"/>
                  </a:schemeClr>
                </a:solidFill>
              </a:rPr>
              <a:t>“All totals reconcile to source”</a:t>
            </a:r>
          </a:p>
          <a:p>
            <a:pPr marL="1143000" indent="-1143000">
              <a:buFont typeface="+mj-lt"/>
              <a:buAutoNum type="arabicPeriod"/>
            </a:pPr>
            <a:r>
              <a:rPr lang="en-US" sz="6000" dirty="0">
                <a:solidFill>
                  <a:schemeClr val="bg1">
                    <a:lumMod val="50000"/>
                  </a:schemeClr>
                </a:solidFill>
              </a:rPr>
              <a:t>“Weighted margin only”</a:t>
            </a:r>
          </a:p>
          <a:p>
            <a:pPr marL="1143000" indent="-1143000">
              <a:buFont typeface="+mj-lt"/>
              <a:buAutoNum type="arabicPeriod"/>
            </a:pPr>
            <a:r>
              <a:rPr lang="en-US" sz="6000" dirty="0">
                <a:solidFill>
                  <a:schemeClr val="bg1">
                    <a:lumMod val="50000"/>
                  </a:schemeClr>
                </a:solidFill>
              </a:rPr>
              <a:t>“If validation fails: stop” </a:t>
            </a:r>
          </a:p>
        </p:txBody>
      </p:sp>
    </p:spTree>
    <p:extLst>
      <p:ext uri="{BB962C8B-B14F-4D97-AF65-F5344CB8AC3E}">
        <p14:creationId xmlns:p14="http://schemas.microsoft.com/office/powerpoint/2010/main" val="1392477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1727A-946E-60D4-3F80-5589208E0C0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0A7F85-0878-F6C0-DA07-E271158CA2EE}"/>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Skills: constrain the implementation space</a:t>
            </a:r>
          </a:p>
        </p:txBody>
      </p:sp>
      <p:pic>
        <p:nvPicPr>
          <p:cNvPr id="15" name="Picture 14" descr="A close up of a sign&#10;&#10;Description automatically generated">
            <a:extLst>
              <a:ext uri="{FF2B5EF4-FFF2-40B4-BE49-F238E27FC236}">
                <a16:creationId xmlns:a16="http://schemas.microsoft.com/office/drawing/2014/main" id="{95082513-C570-1635-B572-A212EB3FD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050B2FF2-DD82-E504-A822-3271676A6748}"/>
              </a:ext>
            </a:extLst>
          </p:cNvPr>
          <p:cNvSpPr txBox="1"/>
          <p:nvPr/>
        </p:nvSpPr>
        <p:spPr>
          <a:xfrm>
            <a:off x="609600" y="2705100"/>
            <a:ext cx="16776539" cy="3785652"/>
          </a:xfrm>
          <a:prstGeom prst="rect">
            <a:avLst/>
          </a:prstGeom>
          <a:noFill/>
        </p:spPr>
        <p:txBody>
          <a:bodyPr wrap="square" numCol="1" rtlCol="0">
            <a:spAutoFit/>
          </a:bodyPr>
          <a:lstStyle/>
          <a:p>
            <a:pPr marL="1143000" indent="-1143000">
              <a:buFont typeface="+mj-lt"/>
              <a:buAutoNum type="arabicPeriod"/>
            </a:pPr>
            <a:r>
              <a:rPr lang="en-US" sz="6000" dirty="0">
                <a:solidFill>
                  <a:schemeClr val="bg1">
                    <a:lumMod val="50000"/>
                  </a:schemeClr>
                </a:solidFill>
              </a:rPr>
              <a:t>“Use Tables” </a:t>
            </a:r>
          </a:p>
          <a:p>
            <a:pPr marL="1143000" indent="-1143000">
              <a:buFont typeface="+mj-lt"/>
              <a:buAutoNum type="arabicPeriod"/>
            </a:pPr>
            <a:r>
              <a:rPr lang="en-US" sz="6000" dirty="0">
                <a:solidFill>
                  <a:schemeClr val="bg1">
                    <a:lumMod val="50000"/>
                  </a:schemeClr>
                </a:solidFill>
              </a:rPr>
              <a:t>“SUMIFs or PivotTables for aggregates”</a:t>
            </a:r>
          </a:p>
          <a:p>
            <a:pPr marL="1143000" indent="-1143000">
              <a:buFont typeface="+mj-lt"/>
              <a:buAutoNum type="arabicPeriod"/>
            </a:pPr>
            <a:r>
              <a:rPr lang="en-US" sz="6000" dirty="0">
                <a:solidFill>
                  <a:schemeClr val="bg1">
                    <a:lumMod val="50000"/>
                  </a:schemeClr>
                </a:solidFill>
              </a:rPr>
              <a:t>“Reconciliation checks”</a:t>
            </a:r>
          </a:p>
          <a:p>
            <a:pPr marL="1143000" indent="-1143000">
              <a:buFont typeface="+mj-lt"/>
              <a:buAutoNum type="arabicPeriod"/>
            </a:pPr>
            <a:r>
              <a:rPr lang="en-US" sz="6000" dirty="0">
                <a:solidFill>
                  <a:schemeClr val="bg1">
                    <a:lumMod val="50000"/>
                  </a:schemeClr>
                </a:solidFill>
              </a:rPr>
              <a:t>“Boundary test rows”</a:t>
            </a:r>
          </a:p>
        </p:txBody>
      </p:sp>
    </p:spTree>
    <p:extLst>
      <p:ext uri="{BB962C8B-B14F-4D97-AF65-F5344CB8AC3E}">
        <p14:creationId xmlns:p14="http://schemas.microsoft.com/office/powerpoint/2010/main" val="3247572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B8A36-06C2-4AC8-8810-E85AD8ED28A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FAE6976-26F5-35C9-84AB-3F698577B1B0}"/>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Workflows: prevent skipping to conclusions</a:t>
            </a:r>
          </a:p>
        </p:txBody>
      </p:sp>
      <p:pic>
        <p:nvPicPr>
          <p:cNvPr id="15" name="Picture 14" descr="A close up of a sign&#10;&#10;Description automatically generated">
            <a:extLst>
              <a:ext uri="{FF2B5EF4-FFF2-40B4-BE49-F238E27FC236}">
                <a16:creationId xmlns:a16="http://schemas.microsoft.com/office/drawing/2014/main" id="{9266E1D6-580B-3E34-6216-F317EACCDF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A90A815C-674E-B6D1-EF2C-B4D64245080C}"/>
              </a:ext>
            </a:extLst>
          </p:cNvPr>
          <p:cNvSpPr txBox="1"/>
          <p:nvPr/>
        </p:nvSpPr>
        <p:spPr>
          <a:xfrm>
            <a:off x="609600" y="2705100"/>
            <a:ext cx="16776539" cy="4708981"/>
          </a:xfrm>
          <a:prstGeom prst="rect">
            <a:avLst/>
          </a:prstGeom>
          <a:noFill/>
        </p:spPr>
        <p:txBody>
          <a:bodyPr wrap="square" numCol="1" rtlCol="0">
            <a:spAutoFit/>
          </a:bodyPr>
          <a:lstStyle/>
          <a:p>
            <a:pPr marL="1143000" indent="-1143000">
              <a:buFont typeface="+mj-lt"/>
              <a:buAutoNum type="arabicPeriod"/>
            </a:pPr>
            <a:r>
              <a:rPr lang="en-US" sz="6000" dirty="0">
                <a:solidFill>
                  <a:schemeClr val="bg1">
                    <a:lumMod val="50000"/>
                  </a:schemeClr>
                </a:solidFill>
              </a:rPr>
              <a:t>“Clarify the question + assumptions”</a:t>
            </a:r>
          </a:p>
          <a:p>
            <a:pPr marL="1143000" indent="-1143000">
              <a:buFont typeface="+mj-lt"/>
              <a:buAutoNum type="arabicPeriod"/>
            </a:pPr>
            <a:r>
              <a:rPr lang="en-US" sz="6000" dirty="0">
                <a:solidFill>
                  <a:schemeClr val="bg1">
                    <a:lumMod val="50000"/>
                  </a:schemeClr>
                </a:solidFill>
              </a:rPr>
              <a:t>“Confirm tests pass before change”</a:t>
            </a:r>
          </a:p>
          <a:p>
            <a:pPr marL="1143000" indent="-1143000">
              <a:buFont typeface="+mj-lt"/>
              <a:buAutoNum type="arabicPeriod"/>
            </a:pPr>
            <a:r>
              <a:rPr lang="en-US" sz="6000" dirty="0">
                <a:solidFill>
                  <a:schemeClr val="bg1">
                    <a:lumMod val="50000"/>
                  </a:schemeClr>
                </a:solidFill>
              </a:rPr>
              <a:t>“Extend/adapt model + add new checks”</a:t>
            </a:r>
          </a:p>
          <a:p>
            <a:pPr marL="1143000" indent="-1143000">
              <a:buFont typeface="+mj-lt"/>
              <a:buAutoNum type="arabicPeriod"/>
            </a:pPr>
            <a:r>
              <a:rPr lang="en-US" sz="6000" dirty="0">
                <a:solidFill>
                  <a:schemeClr val="bg1">
                    <a:lumMod val="50000"/>
                  </a:schemeClr>
                </a:solidFill>
              </a:rPr>
              <a:t>“Re-validate after change”</a:t>
            </a:r>
          </a:p>
          <a:p>
            <a:pPr marL="1143000" indent="-1143000">
              <a:buFont typeface="+mj-lt"/>
              <a:buAutoNum type="arabicPeriod"/>
            </a:pPr>
            <a:r>
              <a:rPr lang="en-US" sz="6000" dirty="0">
                <a:solidFill>
                  <a:schemeClr val="bg1">
                    <a:lumMod val="50000"/>
                  </a:schemeClr>
                </a:solidFill>
              </a:rPr>
              <a:t>“Deliver result + separate validation status”</a:t>
            </a:r>
          </a:p>
        </p:txBody>
      </p:sp>
    </p:spTree>
    <p:extLst>
      <p:ext uri="{BB962C8B-B14F-4D97-AF65-F5344CB8AC3E}">
        <p14:creationId xmlns:p14="http://schemas.microsoft.com/office/powerpoint/2010/main" val="1841624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51C67-611F-85B9-9A8E-908557C347F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F7BD92B-7960-F73E-88F7-666A48383292}"/>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Test sheet as control center</a:t>
            </a:r>
          </a:p>
        </p:txBody>
      </p:sp>
      <p:pic>
        <p:nvPicPr>
          <p:cNvPr id="15" name="Picture 14" descr="A close up of a sign&#10;&#10;Description automatically generated">
            <a:extLst>
              <a:ext uri="{FF2B5EF4-FFF2-40B4-BE49-F238E27FC236}">
                <a16:creationId xmlns:a16="http://schemas.microsoft.com/office/drawing/2014/main" id="{D75A3954-379B-FAE4-9EBC-2B19450FB6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B238B672-45F7-FC9F-C25F-98FD369B7CFD}"/>
              </a:ext>
            </a:extLst>
          </p:cNvPr>
          <p:cNvSpPr txBox="1"/>
          <p:nvPr/>
        </p:nvSpPr>
        <p:spPr>
          <a:xfrm>
            <a:off x="609600" y="2705100"/>
            <a:ext cx="16776539" cy="3785652"/>
          </a:xfrm>
          <a:prstGeom prst="rect">
            <a:avLst/>
          </a:prstGeom>
          <a:noFill/>
        </p:spPr>
        <p:txBody>
          <a:bodyPr wrap="square" numCol="1" rtlCol="0">
            <a:spAutoFit/>
          </a:bodyPr>
          <a:lstStyle/>
          <a:p>
            <a:pPr marL="857250" indent="-857250">
              <a:buFont typeface="Arial" panose="020B0604020202020204" pitchFamily="34" charset="0"/>
              <a:buChar char="•"/>
            </a:pPr>
            <a:r>
              <a:rPr lang="en-US" sz="6000" dirty="0">
                <a:solidFill>
                  <a:schemeClr val="bg1">
                    <a:lumMod val="50000"/>
                  </a:schemeClr>
                </a:solidFill>
              </a:rPr>
              <a:t>Reconciliation: revenue, margin, cost</a:t>
            </a:r>
          </a:p>
          <a:p>
            <a:pPr marL="857250" indent="-857250">
              <a:buFont typeface="Arial" panose="020B0604020202020204" pitchFamily="34" charset="0"/>
              <a:buChar char="•"/>
            </a:pPr>
            <a:r>
              <a:rPr lang="en-US" sz="6000" dirty="0">
                <a:solidFill>
                  <a:schemeClr val="bg1">
                    <a:lumMod val="50000"/>
                  </a:schemeClr>
                </a:solidFill>
              </a:rPr>
              <a:t>Invariants: bounds checks, weighted logic</a:t>
            </a:r>
          </a:p>
          <a:p>
            <a:pPr marL="857250" indent="-857250">
              <a:buFont typeface="Arial" panose="020B0604020202020204" pitchFamily="34" charset="0"/>
              <a:buChar char="•"/>
            </a:pPr>
            <a:r>
              <a:rPr lang="en-US" sz="6000" dirty="0">
                <a:solidFill>
                  <a:schemeClr val="bg1">
                    <a:lumMod val="50000"/>
                  </a:schemeClr>
                </a:solidFill>
              </a:rPr>
              <a:t>Boundary tests: commission tiers</a:t>
            </a:r>
          </a:p>
          <a:p>
            <a:pPr marL="857250" indent="-857250">
              <a:buFont typeface="Arial" panose="020B0604020202020204" pitchFamily="34" charset="0"/>
              <a:buChar char="•"/>
            </a:pPr>
            <a:r>
              <a:rPr lang="en-US" sz="6000" dirty="0">
                <a:solidFill>
                  <a:schemeClr val="bg1">
                    <a:lumMod val="50000"/>
                  </a:schemeClr>
                </a:solidFill>
              </a:rPr>
              <a:t>Forecast assertions: non-negative, window rules</a:t>
            </a:r>
          </a:p>
        </p:txBody>
      </p:sp>
    </p:spTree>
    <p:extLst>
      <p:ext uri="{BB962C8B-B14F-4D97-AF65-F5344CB8AC3E}">
        <p14:creationId xmlns:p14="http://schemas.microsoft.com/office/powerpoint/2010/main" val="2465643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51B3F-0DE3-56ED-E4CA-388476D6BED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8D1981A-67FA-498B-1540-B8DDECE508EE}"/>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What good agent behavior looks like</a:t>
            </a:r>
          </a:p>
        </p:txBody>
      </p:sp>
      <p:pic>
        <p:nvPicPr>
          <p:cNvPr id="15" name="Picture 14" descr="A close up of a sign&#10;&#10;Description automatically generated">
            <a:extLst>
              <a:ext uri="{FF2B5EF4-FFF2-40B4-BE49-F238E27FC236}">
                <a16:creationId xmlns:a16="http://schemas.microsoft.com/office/drawing/2014/main" id="{B1AA494C-4F47-6DC5-C4A3-AA573D3CF9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BFF273DC-E303-0F31-FF19-78056835392F}"/>
              </a:ext>
            </a:extLst>
          </p:cNvPr>
          <p:cNvSpPr txBox="1"/>
          <p:nvPr/>
        </p:nvSpPr>
        <p:spPr>
          <a:xfrm>
            <a:off x="914400" y="1911649"/>
            <a:ext cx="16776539" cy="8402300"/>
          </a:xfrm>
          <a:prstGeom prst="rect">
            <a:avLst/>
          </a:prstGeom>
          <a:noFill/>
        </p:spPr>
        <p:txBody>
          <a:bodyPr wrap="square" numCol="2" rtlCol="0">
            <a:spAutoFit/>
          </a:bodyPr>
          <a:lstStyle/>
          <a:p>
            <a:r>
              <a:rPr lang="en-US" sz="6000" dirty="0">
                <a:solidFill>
                  <a:schemeClr val="bg1">
                    <a:lumMod val="50000"/>
                  </a:schemeClr>
                </a:solidFill>
              </a:rPr>
              <a:t>Before analysis:</a:t>
            </a:r>
          </a:p>
          <a:p>
            <a:pPr marL="857250" indent="-857250">
              <a:buFont typeface="Arial" panose="020B0604020202020204" pitchFamily="34" charset="0"/>
              <a:buChar char="•"/>
            </a:pPr>
            <a:r>
              <a:rPr lang="en-US" sz="6000" dirty="0">
                <a:solidFill>
                  <a:schemeClr val="bg1">
                    <a:lumMod val="50000"/>
                  </a:schemeClr>
                </a:solidFill>
              </a:rPr>
              <a:t>Ask clarifying question if needed</a:t>
            </a:r>
          </a:p>
          <a:p>
            <a:pPr marL="857250" indent="-857250">
              <a:buFont typeface="Arial" panose="020B0604020202020204" pitchFamily="34" charset="0"/>
              <a:buChar char="•"/>
            </a:pPr>
            <a:r>
              <a:rPr lang="en-US" sz="6000" dirty="0">
                <a:solidFill>
                  <a:schemeClr val="bg1">
                    <a:lumMod val="50000"/>
                  </a:schemeClr>
                </a:solidFill>
              </a:rPr>
              <a:t>Confirm baseline snapshot exists</a:t>
            </a:r>
          </a:p>
          <a:p>
            <a:pPr marL="857250" indent="-857250">
              <a:buFont typeface="Arial" panose="020B0604020202020204" pitchFamily="34" charset="0"/>
              <a:buChar char="•"/>
            </a:pPr>
            <a:r>
              <a:rPr lang="en-US" sz="6000" dirty="0">
                <a:solidFill>
                  <a:schemeClr val="bg1">
                    <a:lumMod val="50000"/>
                  </a:schemeClr>
                </a:solidFill>
              </a:rPr>
              <a:t>Confirm all tests PASS</a:t>
            </a:r>
          </a:p>
          <a:p>
            <a:endParaRPr lang="en-US" sz="6000" dirty="0">
              <a:solidFill>
                <a:schemeClr val="bg1">
                  <a:lumMod val="50000"/>
                </a:schemeClr>
              </a:solidFill>
            </a:endParaRPr>
          </a:p>
          <a:p>
            <a:endParaRPr lang="en-US" sz="6000" dirty="0">
              <a:solidFill>
                <a:schemeClr val="bg1">
                  <a:lumMod val="50000"/>
                </a:schemeClr>
              </a:solidFill>
            </a:endParaRPr>
          </a:p>
          <a:p>
            <a:endParaRPr lang="en-US" sz="6000" dirty="0">
              <a:solidFill>
                <a:schemeClr val="bg1">
                  <a:lumMod val="50000"/>
                </a:schemeClr>
              </a:solidFill>
            </a:endParaRPr>
          </a:p>
          <a:p>
            <a:r>
              <a:rPr lang="en-US" sz="6000" dirty="0">
                <a:solidFill>
                  <a:schemeClr val="bg1">
                    <a:lumMod val="50000"/>
                  </a:schemeClr>
                </a:solidFill>
              </a:rPr>
              <a:t>During analysis:</a:t>
            </a:r>
          </a:p>
          <a:p>
            <a:pPr marL="857250" indent="-857250">
              <a:buFont typeface="Arial" panose="020B0604020202020204" pitchFamily="34" charset="0"/>
              <a:buChar char="•"/>
            </a:pPr>
            <a:r>
              <a:rPr lang="en-US" sz="6000" dirty="0">
                <a:solidFill>
                  <a:schemeClr val="bg1">
                    <a:lumMod val="50000"/>
                  </a:schemeClr>
                </a:solidFill>
              </a:rPr>
              <a:t>Decompose drivers / forecast</a:t>
            </a:r>
          </a:p>
          <a:p>
            <a:pPr marL="857250" indent="-857250">
              <a:buFont typeface="Arial" panose="020B0604020202020204" pitchFamily="34" charset="0"/>
              <a:buChar char="•"/>
            </a:pPr>
            <a:r>
              <a:rPr lang="en-US" sz="6000" dirty="0">
                <a:solidFill>
                  <a:schemeClr val="bg1">
                    <a:lumMod val="50000"/>
                  </a:schemeClr>
                </a:solidFill>
              </a:rPr>
              <a:t>Re-check tests</a:t>
            </a:r>
          </a:p>
          <a:p>
            <a:pPr marL="857250" indent="-857250">
              <a:buFont typeface="Arial" panose="020B0604020202020204" pitchFamily="34" charset="0"/>
              <a:buChar char="•"/>
            </a:pPr>
            <a:r>
              <a:rPr lang="en-US" sz="6000" dirty="0">
                <a:solidFill>
                  <a:schemeClr val="bg1">
                    <a:lumMod val="50000"/>
                  </a:schemeClr>
                </a:solidFill>
              </a:rPr>
              <a:t>Report results + validation status</a:t>
            </a:r>
          </a:p>
        </p:txBody>
      </p:sp>
    </p:spTree>
    <p:extLst>
      <p:ext uri="{BB962C8B-B14F-4D97-AF65-F5344CB8AC3E}">
        <p14:creationId xmlns:p14="http://schemas.microsoft.com/office/powerpoint/2010/main" val="2761793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344400" y="0"/>
            <a:ext cx="59436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0" y="329879"/>
            <a:ext cx="11398169" cy="904863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Live walkthrough</a:t>
            </a:r>
          </a:p>
          <a:p>
            <a:endParaRPr lang="en-US" sz="4200" dirty="0">
              <a:solidFill>
                <a:srgbClr val="CF3338"/>
              </a:solidFill>
              <a:latin typeface="Pragmatica" panose="020B0403040502020204" pitchFamily="34" charset="0"/>
            </a:endParaRPr>
          </a:p>
          <a:p>
            <a:r>
              <a:rPr lang="en-US" sz="4000" dirty="0">
                <a:solidFill>
                  <a:srgbClr val="CF3338"/>
                </a:solidFill>
              </a:rPr>
              <a:t>Build a sales model with Agent Mode:</a:t>
            </a:r>
          </a:p>
          <a:p>
            <a:endParaRPr lang="en-US" sz="4000" dirty="0">
              <a:solidFill>
                <a:srgbClr val="CF3338"/>
              </a:solidFill>
            </a:endParaRPr>
          </a:p>
          <a:p>
            <a:pPr marL="571500" indent="-571500">
              <a:buFont typeface="Arial" panose="020B0604020202020204" pitchFamily="34" charset="0"/>
              <a:buChar char="•"/>
            </a:pPr>
            <a:r>
              <a:rPr lang="en-US" sz="4000" dirty="0">
                <a:solidFill>
                  <a:srgbClr val="CF3338"/>
                </a:solidFill>
              </a:rPr>
              <a:t>Define correctness before building.</a:t>
            </a:r>
          </a:p>
          <a:p>
            <a:pPr marL="571500" indent="-571500">
              <a:buFont typeface="Arial" panose="020B0604020202020204" pitchFamily="34" charset="0"/>
              <a:buChar char="•"/>
            </a:pPr>
            <a:r>
              <a:rPr lang="en-US" sz="4000" dirty="0">
                <a:solidFill>
                  <a:srgbClr val="CF3338"/>
                </a:solidFill>
              </a:rPr>
              <a:t>Give the agent a responsibility contract, not just a task.</a:t>
            </a:r>
          </a:p>
          <a:p>
            <a:pPr marL="571500" indent="-571500">
              <a:buFont typeface="Arial" panose="020B0604020202020204" pitchFamily="34" charset="0"/>
              <a:buChar char="•"/>
            </a:pPr>
            <a:r>
              <a:rPr lang="en-US" sz="4000" dirty="0">
                <a:solidFill>
                  <a:srgbClr val="CF3338"/>
                </a:solidFill>
              </a:rPr>
              <a:t>Build the model with built-in reconciliation and tests.</a:t>
            </a:r>
          </a:p>
          <a:p>
            <a:pPr marL="571500" indent="-571500">
              <a:buFont typeface="Arial" panose="020B0604020202020204" pitchFamily="34" charset="0"/>
              <a:buChar char="•"/>
            </a:pPr>
            <a:r>
              <a:rPr lang="en-US" sz="4000" dirty="0">
                <a:solidFill>
                  <a:srgbClr val="CF3338"/>
                </a:solidFill>
              </a:rPr>
              <a:t>Enforce: Validate → Modify → Re-validate → Report.</a:t>
            </a:r>
          </a:p>
          <a:p>
            <a:pPr marL="571500" indent="-571500">
              <a:buFont typeface="Arial" panose="020B0604020202020204" pitchFamily="34" charset="0"/>
              <a:buChar char="•"/>
            </a:pPr>
            <a:r>
              <a:rPr lang="en-US" sz="4000" dirty="0">
                <a:solidFill>
                  <a:srgbClr val="CF3338"/>
                </a:solidFill>
              </a:rPr>
              <a:t>Break it on purpose to prove the checks work.</a:t>
            </a:r>
          </a:p>
          <a:p>
            <a:pPr marL="571500" indent="-571500">
              <a:buFont typeface="Arial" panose="020B0604020202020204" pitchFamily="34" charset="0"/>
              <a:buChar char="•"/>
            </a:pPr>
            <a:endParaRPr lang="en-US" sz="4000" dirty="0">
              <a:solidFill>
                <a:srgbClr val="CF3338"/>
              </a:solidFill>
            </a:endParaRPr>
          </a:p>
          <a:p>
            <a:r>
              <a:rPr lang="en-US" sz="4000" dirty="0">
                <a:solidFill>
                  <a:srgbClr val="CF3338"/>
                </a:solidFill>
              </a:rPr>
              <a:t>File: </a:t>
            </a:r>
            <a:r>
              <a:rPr lang="en-US" sz="4000" dirty="0">
                <a:solidFill>
                  <a:srgbClr val="CF3338"/>
                </a:solidFill>
                <a:latin typeface="Consolas" panose="020B0609020204030204" pitchFamily="49" charset="0"/>
              </a:rPr>
              <a:t>agent-mode-demo.xlsx</a:t>
            </a:r>
          </a:p>
        </p:txBody>
      </p:sp>
    </p:spTree>
    <p:extLst>
      <p:ext uri="{BB962C8B-B14F-4D97-AF65-F5344CB8AC3E}">
        <p14:creationId xmlns:p14="http://schemas.microsoft.com/office/powerpoint/2010/main" val="387153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8D3E6-70A5-4F68-5996-9651EEF732F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B2707B9-5803-F847-C71E-FA0CB14A1C9C}"/>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Common failure modes (and the fix)</a:t>
            </a:r>
          </a:p>
        </p:txBody>
      </p:sp>
      <p:pic>
        <p:nvPicPr>
          <p:cNvPr id="15" name="Picture 14" descr="A close up of a sign&#10;&#10;Description automatically generated">
            <a:extLst>
              <a:ext uri="{FF2B5EF4-FFF2-40B4-BE49-F238E27FC236}">
                <a16:creationId xmlns:a16="http://schemas.microsoft.com/office/drawing/2014/main" id="{9DD542EC-F278-2B2C-7FBA-A8BD53BFED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DB433D5B-B1D0-8133-1BFB-EEE5F02C68BE}"/>
              </a:ext>
            </a:extLst>
          </p:cNvPr>
          <p:cNvSpPr txBox="1"/>
          <p:nvPr/>
        </p:nvSpPr>
        <p:spPr>
          <a:xfrm>
            <a:off x="755730" y="1714618"/>
            <a:ext cx="16776539" cy="8402300"/>
          </a:xfrm>
          <a:prstGeom prst="rect">
            <a:avLst/>
          </a:prstGeom>
          <a:noFill/>
        </p:spPr>
        <p:txBody>
          <a:bodyPr wrap="square" numCol="2" rtlCol="0">
            <a:spAutoFit/>
          </a:bodyPr>
          <a:lstStyle/>
          <a:p>
            <a:r>
              <a:rPr lang="en-US" sz="4800" dirty="0">
                <a:solidFill>
                  <a:schemeClr val="bg1">
                    <a:lumMod val="50000"/>
                  </a:schemeClr>
                </a:solidFill>
              </a:rPr>
              <a:t>Failure mode:</a:t>
            </a:r>
          </a:p>
          <a:p>
            <a:pPr marL="857250" indent="-857250">
              <a:buFont typeface="Arial" panose="020B0604020202020204" pitchFamily="34" charset="0"/>
              <a:buChar char="•"/>
            </a:pPr>
            <a:r>
              <a:rPr lang="en-US" sz="4800" dirty="0">
                <a:solidFill>
                  <a:schemeClr val="bg1">
                    <a:lumMod val="50000"/>
                  </a:schemeClr>
                </a:solidFill>
              </a:rPr>
              <a:t>“Sounds plausible” summaries (no reconciliation)</a:t>
            </a:r>
          </a:p>
          <a:p>
            <a:pPr marL="857250" indent="-857250">
              <a:buFont typeface="Arial" panose="020B0604020202020204" pitchFamily="34" charset="0"/>
              <a:buChar char="•"/>
            </a:pPr>
            <a:r>
              <a:rPr lang="en-US" sz="4800" dirty="0">
                <a:solidFill>
                  <a:schemeClr val="bg1">
                    <a:lumMod val="50000"/>
                  </a:schemeClr>
                </a:solidFill>
              </a:rPr>
              <a:t>Silent logic patches to make numbers tie out</a:t>
            </a:r>
          </a:p>
          <a:p>
            <a:pPr marL="857250" indent="-857250">
              <a:buFont typeface="Arial" panose="020B0604020202020204" pitchFamily="34" charset="0"/>
              <a:buChar char="•"/>
            </a:pPr>
            <a:r>
              <a:rPr lang="en-US" sz="4800" dirty="0">
                <a:solidFill>
                  <a:schemeClr val="bg1">
                    <a:lumMod val="50000"/>
                  </a:schemeClr>
                </a:solidFill>
              </a:rPr>
              <a:t>Schema edits that break downstream</a:t>
            </a:r>
          </a:p>
          <a:p>
            <a:pPr marL="857250" indent="-857250">
              <a:buFont typeface="Arial" panose="020B0604020202020204" pitchFamily="34" charset="0"/>
              <a:buChar char="•"/>
            </a:pPr>
            <a:r>
              <a:rPr lang="en-US" sz="4800" dirty="0">
                <a:solidFill>
                  <a:schemeClr val="bg1">
                    <a:lumMod val="50000"/>
                  </a:schemeClr>
                </a:solidFill>
              </a:rPr>
              <a:t>Overconfident causality / intent</a:t>
            </a:r>
          </a:p>
          <a:p>
            <a:pPr marL="857250" indent="-857250">
              <a:buFont typeface="Arial" panose="020B0604020202020204" pitchFamily="34" charset="0"/>
              <a:buChar char="•"/>
            </a:pPr>
            <a:endParaRPr lang="en-US" sz="4800" dirty="0">
              <a:solidFill>
                <a:schemeClr val="bg1">
                  <a:lumMod val="50000"/>
                </a:schemeClr>
              </a:solidFill>
            </a:endParaRPr>
          </a:p>
          <a:p>
            <a:endParaRPr lang="en-US" sz="4800" dirty="0">
              <a:solidFill>
                <a:schemeClr val="bg1">
                  <a:lumMod val="50000"/>
                </a:schemeClr>
              </a:solidFill>
            </a:endParaRPr>
          </a:p>
          <a:p>
            <a:r>
              <a:rPr lang="en-US" sz="4800" dirty="0">
                <a:solidFill>
                  <a:schemeClr val="bg1">
                    <a:lumMod val="50000"/>
                  </a:schemeClr>
                </a:solidFill>
              </a:rPr>
              <a:t>Fix:</a:t>
            </a:r>
          </a:p>
          <a:p>
            <a:pPr marL="857250" indent="-857250">
              <a:buFont typeface="Arial" panose="020B0604020202020204" pitchFamily="34" charset="0"/>
              <a:buChar char="•"/>
            </a:pPr>
            <a:r>
              <a:rPr lang="en-US" sz="4800" dirty="0">
                <a:solidFill>
                  <a:schemeClr val="bg1">
                    <a:lumMod val="50000"/>
                  </a:schemeClr>
                </a:solidFill>
              </a:rPr>
              <a:t>Require checks + stop conditions</a:t>
            </a:r>
          </a:p>
          <a:p>
            <a:pPr marL="857250" indent="-857250">
              <a:buFont typeface="Arial" panose="020B0604020202020204" pitchFamily="34" charset="0"/>
              <a:buChar char="•"/>
            </a:pPr>
            <a:r>
              <a:rPr lang="en-US" sz="4800" dirty="0">
                <a:solidFill>
                  <a:schemeClr val="bg1">
                    <a:lumMod val="50000"/>
                  </a:schemeClr>
                </a:solidFill>
              </a:rPr>
              <a:t>Separate analysis from validation status</a:t>
            </a:r>
          </a:p>
          <a:p>
            <a:pPr marL="857250" indent="-857250">
              <a:buFont typeface="Arial" panose="020B0604020202020204" pitchFamily="34" charset="0"/>
              <a:buChar char="•"/>
            </a:pPr>
            <a:r>
              <a:rPr lang="en-US" sz="4800" dirty="0">
                <a:solidFill>
                  <a:schemeClr val="bg1">
                    <a:lumMod val="50000"/>
                  </a:schemeClr>
                </a:solidFill>
              </a:rPr>
              <a:t>Limit what agent can change</a:t>
            </a:r>
          </a:p>
          <a:p>
            <a:pPr marL="857250" indent="-857250">
              <a:buFont typeface="Arial" panose="020B0604020202020204" pitchFamily="34" charset="0"/>
              <a:buChar char="•"/>
            </a:pPr>
            <a:endParaRPr lang="en-US" sz="4800" dirty="0">
              <a:solidFill>
                <a:schemeClr val="bg1">
                  <a:lumMod val="50000"/>
                </a:schemeClr>
              </a:solidFill>
            </a:endParaRPr>
          </a:p>
        </p:txBody>
      </p:sp>
    </p:spTree>
    <p:extLst>
      <p:ext uri="{BB962C8B-B14F-4D97-AF65-F5344CB8AC3E}">
        <p14:creationId xmlns:p14="http://schemas.microsoft.com/office/powerpoint/2010/main" val="3672905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A313B-0566-6A89-D12B-175667903CC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D76ED1F-B5E8-B8C5-024B-15B24847313E}"/>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Close &amp; access</a:t>
            </a:r>
          </a:p>
        </p:txBody>
      </p:sp>
      <p:pic>
        <p:nvPicPr>
          <p:cNvPr id="15" name="Picture 14" descr="A close up of a sign&#10;&#10;Description automatically generated">
            <a:extLst>
              <a:ext uri="{FF2B5EF4-FFF2-40B4-BE49-F238E27FC236}">
                <a16:creationId xmlns:a16="http://schemas.microsoft.com/office/drawing/2014/main" id="{C0823465-689C-0609-DCDC-9554CAE86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5" name="TextBox 4">
            <a:extLst>
              <a:ext uri="{FF2B5EF4-FFF2-40B4-BE49-F238E27FC236}">
                <a16:creationId xmlns:a16="http://schemas.microsoft.com/office/drawing/2014/main" id="{F4A5A290-3460-8AF9-AE71-D69D4A1A335D}"/>
              </a:ext>
            </a:extLst>
          </p:cNvPr>
          <p:cNvSpPr txBox="1"/>
          <p:nvPr/>
        </p:nvSpPr>
        <p:spPr>
          <a:xfrm>
            <a:off x="609600" y="2705100"/>
            <a:ext cx="16776539" cy="4708981"/>
          </a:xfrm>
          <a:prstGeom prst="rect">
            <a:avLst/>
          </a:prstGeom>
          <a:noFill/>
        </p:spPr>
        <p:txBody>
          <a:bodyPr wrap="square" numCol="1" rtlCol="0">
            <a:spAutoFit/>
          </a:bodyPr>
          <a:lstStyle/>
          <a:p>
            <a:pPr marL="857250" indent="-857250">
              <a:buFont typeface="Arial" panose="020B0604020202020204" pitchFamily="34" charset="0"/>
              <a:buChar char="•"/>
            </a:pPr>
            <a:r>
              <a:rPr lang="en-US" sz="6000" dirty="0">
                <a:solidFill>
                  <a:schemeClr val="bg1">
                    <a:lumMod val="50000"/>
                  </a:schemeClr>
                </a:solidFill>
              </a:rPr>
              <a:t>Members: replay included</a:t>
            </a:r>
          </a:p>
          <a:p>
            <a:pPr marL="857250" indent="-857250">
              <a:buFont typeface="Arial" panose="020B0604020202020204" pitchFamily="34" charset="0"/>
              <a:buChar char="•"/>
            </a:pPr>
            <a:r>
              <a:rPr lang="en-US" sz="6000" dirty="0">
                <a:solidFill>
                  <a:schemeClr val="bg1">
                    <a:lumMod val="50000"/>
                  </a:schemeClr>
                </a:solidFill>
              </a:rPr>
              <a:t>Non-members: replay in membership</a:t>
            </a:r>
          </a:p>
          <a:p>
            <a:pPr marL="857250" indent="-857250">
              <a:buFont typeface="Arial" panose="020B0604020202020204" pitchFamily="34" charset="0"/>
              <a:buChar char="•"/>
            </a:pPr>
            <a:r>
              <a:rPr lang="en-US" sz="6000" dirty="0">
                <a:solidFill>
                  <a:schemeClr val="bg1">
                    <a:lumMod val="50000"/>
                  </a:schemeClr>
                </a:solidFill>
              </a:rPr>
              <a:t>$1 first-month trial</a:t>
            </a:r>
          </a:p>
          <a:p>
            <a:pPr marL="857250" indent="-857250">
              <a:buFont typeface="Arial" panose="020B0604020202020204" pitchFamily="34" charset="0"/>
              <a:buChar char="•"/>
            </a:pPr>
            <a:r>
              <a:rPr lang="en-US" sz="6000" dirty="0">
                <a:solidFill>
                  <a:schemeClr val="bg1">
                    <a:lumMod val="50000"/>
                  </a:schemeClr>
                </a:solidFill>
              </a:rPr>
              <a:t>Download files are up at link</a:t>
            </a:r>
          </a:p>
          <a:p>
            <a:pPr marL="857250" indent="-857250">
              <a:buFont typeface="Arial" panose="020B0604020202020204" pitchFamily="34" charset="0"/>
              <a:buChar char="•"/>
            </a:pPr>
            <a:r>
              <a:rPr lang="en-US" sz="6000" dirty="0">
                <a:solidFill>
                  <a:schemeClr val="bg1">
                    <a:lumMod val="50000"/>
                  </a:schemeClr>
                </a:solidFill>
              </a:rPr>
              <a:t>Email instructions will be sent shortly</a:t>
            </a:r>
          </a:p>
        </p:txBody>
      </p:sp>
    </p:spTree>
    <p:extLst>
      <p:ext uri="{BB962C8B-B14F-4D97-AF65-F5344CB8AC3E}">
        <p14:creationId xmlns:p14="http://schemas.microsoft.com/office/powerpoint/2010/main" val="72576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323C9-D5F7-C820-78B9-E169BDF231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971779-1F50-1702-DEC1-87CD482189F0}"/>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5ECC4C7B-C529-5329-03AC-796804551DC1}"/>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Thank you</a:t>
            </a:r>
          </a:p>
        </p:txBody>
      </p:sp>
    </p:spTree>
    <p:extLst>
      <p:ext uri="{BB962C8B-B14F-4D97-AF65-F5344CB8AC3E}">
        <p14:creationId xmlns:p14="http://schemas.microsoft.com/office/powerpoint/2010/main" val="657829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2722</TotalTime>
  <Words>1643</Words>
  <Application>Microsoft Office PowerPoint</Application>
  <PresentationFormat>Custom</PresentationFormat>
  <Paragraphs>126</Paragraphs>
  <Slides>17</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Normafixed Tryout</vt:lpstr>
      <vt:lpstr>Calibri</vt:lpstr>
      <vt:lpstr>Pragmatica</vt:lpstr>
      <vt:lpstr>Consolas</vt:lpstr>
      <vt:lpstr>Aliens &amp; cows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232</cp:revision>
  <dcterms:created xsi:type="dcterms:W3CDTF">2006-08-16T00:00:00Z</dcterms:created>
  <dcterms:modified xsi:type="dcterms:W3CDTF">2026-02-13T14:29:11Z</dcterms:modified>
  <dc:identifier>DADurESpNu8</dc:identifier>
</cp:coreProperties>
</file>